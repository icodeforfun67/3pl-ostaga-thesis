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318" r:id="rId6"/>
    <p:sldId id="260" r:id="rId7"/>
    <p:sldId id="31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20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21" r:id="rId72"/>
    <p:sldId id="336" r:id="rId73"/>
    <p:sldId id="337" r:id="rId74"/>
    <p:sldId id="322" r:id="rId75"/>
    <p:sldId id="338" r:id="rId76"/>
    <p:sldId id="323" r:id="rId77"/>
    <p:sldId id="313" r:id="rId78"/>
    <p:sldId id="340" r:id="rId79"/>
    <p:sldId id="316" r:id="rId80"/>
    <p:sldId id="317" r:id="rId81"/>
    <p:sldId id="339" r:id="rId8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4"/>
      <p:bold r:id="rId85"/>
      <p:italic r:id="rId86"/>
      <p:boldItalic r:id="rId8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14" y="5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bcd34781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bcd34781f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bcd34781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bcd34781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bcd34781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ebcd34781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8492D52A-253A-76C8-F425-3B3FACE0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bcd34781f_0_90:notes">
            <a:extLst>
              <a:ext uri="{FF2B5EF4-FFF2-40B4-BE49-F238E27FC236}">
                <a16:creationId xmlns:a16="http://schemas.microsoft.com/office/drawing/2014/main" id="{5FD79FD9-ABC1-581C-5F08-2C669E66EE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ebcd34781f_0_90:notes">
            <a:extLst>
              <a:ext uri="{FF2B5EF4-FFF2-40B4-BE49-F238E27FC236}">
                <a16:creationId xmlns:a16="http://schemas.microsoft.com/office/drawing/2014/main" id="{3002019C-2AF1-90FD-609A-B52F4B45DB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9235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bcd34781f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bcd34781f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186BFF-5F53-2C0A-2D9F-782F9767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bcd34781f_0_95:notes">
            <a:extLst>
              <a:ext uri="{FF2B5EF4-FFF2-40B4-BE49-F238E27FC236}">
                <a16:creationId xmlns:a16="http://schemas.microsoft.com/office/drawing/2014/main" id="{0DFAFCD2-F1D6-A5BD-FEAB-881196B97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ebcd34781f_0_95:notes">
            <a:extLst>
              <a:ext uri="{FF2B5EF4-FFF2-40B4-BE49-F238E27FC236}">
                <a16:creationId xmlns:a16="http://schemas.microsoft.com/office/drawing/2014/main" id="{34ADE539-B80B-9828-07FB-3DD3CEF05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116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ebcd34781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ebcd34781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bcd34781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bcd34781f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c0eda5fba_5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c0eda5fba_5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bcd34781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ebcd34781f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bcd34781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bcd34781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bcd34781f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bcd34781f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bcd34781f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ebcd34781f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bcd34781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bcd34781f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bcd34781f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bcd34781f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bcd34781f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bcd34781f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bcd34781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ebcd34781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bcd34781f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ebcd34781f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ebcd34781f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ebcd34781f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bcd34781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bcd34781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bcd34781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bcd34781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bcd34781f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ebcd34781f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bcd34781f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ebcd34781f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bcd34781f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bcd34781f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bcd34781f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ebcd34781f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ebcd34781f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ebcd34781f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bcd34781f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ebcd34781f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bcd34781f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bcd34781f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ebcd34781f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ebcd34781f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ebcd34781f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ebcd34781f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ebcd34781f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ebcd34781f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ebcd34781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ebcd34781f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bcd34781f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bcd34781f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bcd34781f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ebcd34781f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bcd34781f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ebcd34781f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bcd34781f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bcd34781f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ebcd34781f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ebcd34781f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ebcd34781f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ebcd34781f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bcd34781f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ebcd34781f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ebcd34781f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ebcd34781f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ebcd34781f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ebcd34781f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ec0eda5fba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ec0eda5fba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ec0eda5fba_7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ec0eda5fba_7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ec0eda5fba_7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ec0eda5fba_7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ec0eda5fba_7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ec0eda5fba_7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ec0eda5fba_7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ec0eda5fba_7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ec0eda5fba_7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ec0eda5fba_7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ec0eda5fba_7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ec0eda5fba_7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c0eda5fba_7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ec0eda5fba_7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ec0eda5fba_7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ec0eda5fba_7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ec0eda5fba_7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ec0eda5fba_7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ec0eda5fba_7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ec0eda5fba_7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ec0eda5fba_7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ec0eda5fba_7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ec0eda5fba_7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ec0eda5fba_7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ec0eda5fba_7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ec0eda5fba_7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ec0eda5fba_7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ec0eda5fba_7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ec0eda5fba_7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ec0eda5fba_7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ec0eda5fba_7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ec0eda5fba_7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ebcd34781f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ebcd34781f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075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bcd34781f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bcd34781f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ec0eda5fba_7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ec0eda5fba_7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s/sma.asp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3925" y="17329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247650" lvl="0" indent="0" algn="ctr" rtl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 b="1" dirty="0"/>
              <a:t>RentaNa: An Integrated Web-based Rental Property Management System With Predictive Analytics Using Time Series Analysis</a:t>
            </a:r>
            <a:endParaRPr sz="2000" b="1" dirty="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460950" y="2941747"/>
            <a:ext cx="8222100" cy="12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r>
              <a:rPr lang="en" sz="1527" dirty="0"/>
              <a:t>Maravilla, Miguel Anton M.</a:t>
            </a:r>
            <a:endParaRPr sz="1527" dirty="0"/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r>
              <a:rPr lang="en" sz="1527" dirty="0"/>
              <a:t>Moreno, John Lester S.</a:t>
            </a:r>
            <a:endParaRPr sz="1527" dirty="0"/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r>
              <a:rPr lang="en" sz="1527" dirty="0"/>
              <a:t>Munda, Jesie Rose P. (SPED)</a:t>
            </a:r>
            <a:endParaRPr sz="1527" dirty="0"/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r>
              <a:rPr lang="en" sz="1527" dirty="0"/>
              <a:t>Roales, Raniel A.</a:t>
            </a:r>
            <a:endParaRPr sz="1527" dirty="0"/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endParaRPr sz="1527" dirty="0"/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r>
              <a:rPr lang="en" sz="1527" dirty="0"/>
              <a:t>December 15, 2024</a:t>
            </a:r>
            <a:endParaRPr sz="1527" dirty="0"/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endParaRPr sz="1527" dirty="0"/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endParaRPr sz="1527" dirty="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3975" y="144125"/>
            <a:ext cx="1198550" cy="11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759100" y="-973287"/>
            <a:ext cx="6005650" cy="33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 dirty="0">
                <a:solidFill>
                  <a:srgbClr val="000000"/>
                </a:solidFill>
              </a:rPr>
              <a:t>Lucena is the fastest growing city in CALABARZON (PSA) (1</a:t>
            </a:r>
            <a:r>
              <a:rPr lang="en-US" sz="2000" baseline="30000" dirty="0">
                <a:solidFill>
                  <a:srgbClr val="000000"/>
                </a:solidFill>
              </a:rPr>
              <a:t>st</a:t>
            </a:r>
            <a:r>
              <a:rPr lang="en-US" sz="2000" dirty="0">
                <a:solidFill>
                  <a:srgbClr val="000000"/>
                </a:solidFill>
              </a:rPr>
              <a:t>) (2023).</a:t>
            </a:r>
            <a:endParaRPr sz="2000" dirty="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dirty="0">
                <a:solidFill>
                  <a:srgbClr val="000000"/>
                </a:solidFill>
              </a:rPr>
              <a:t>Population in Lucena is constantly growing due to migration (City Government of Lucena, 2020)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dirty="0">
                <a:solidFill>
                  <a:srgbClr val="000000"/>
                </a:solidFill>
              </a:rPr>
              <a:t>Increasing number of people renting rental properties</a:t>
            </a:r>
          </a:p>
          <a:p>
            <a:pPr lvl="1" indent="-355600">
              <a:buClr>
                <a:srgbClr val="000000"/>
              </a:buClr>
              <a:buSzPts val="2000"/>
              <a:buChar char="●"/>
            </a:pPr>
            <a:r>
              <a:rPr lang="en" sz="1600" dirty="0">
                <a:solidFill>
                  <a:srgbClr val="000000"/>
                </a:solidFill>
              </a:rPr>
              <a:t>Urbanization</a:t>
            </a:r>
          </a:p>
          <a:p>
            <a:pPr lvl="1" indent="-355600">
              <a:buClr>
                <a:srgbClr val="000000"/>
              </a:buClr>
              <a:buSzPts val="2000"/>
              <a:buChar char="●"/>
            </a:pPr>
            <a:r>
              <a:rPr lang="en" sz="1600" dirty="0">
                <a:solidFill>
                  <a:srgbClr val="000000"/>
                </a:solidFill>
              </a:rPr>
              <a:t>Employment opportunities</a:t>
            </a:r>
          </a:p>
          <a:p>
            <a:pPr indent="-355600">
              <a:buClr>
                <a:srgbClr val="000000"/>
              </a:buClr>
              <a:buSzPts val="2000"/>
            </a:pPr>
            <a:r>
              <a:rPr lang="en" sz="2000" dirty="0">
                <a:solidFill>
                  <a:srgbClr val="000000"/>
                </a:solidFill>
              </a:rPr>
              <a:t>S&amp;M Products and Rentals, a registered local rental house property business in Lucena</a:t>
            </a:r>
          </a:p>
          <a:p>
            <a:pPr indent="-355600">
              <a:buClr>
                <a:srgbClr val="000000"/>
              </a:buClr>
              <a:buSzPts val="2000"/>
            </a:pPr>
            <a:r>
              <a:rPr lang="en" sz="2000" dirty="0">
                <a:solidFill>
                  <a:srgbClr val="000000"/>
                </a:solidFill>
              </a:rPr>
              <a:t>Integrated Website For Rental Property Management for Systematic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and Description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24765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 dirty="0">
                <a:solidFill>
                  <a:srgbClr val="000000"/>
                </a:solidFill>
              </a:rPr>
              <a:t>Web-based system integrates property management, online booking, and business analytics for S&amp;M Products and Rentals. </a:t>
            </a:r>
            <a:endParaRPr sz="1600" dirty="0">
              <a:solidFill>
                <a:srgbClr val="000000"/>
              </a:solidFill>
            </a:endParaRPr>
          </a:p>
          <a:p>
            <a:pPr marL="457200" marR="24765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 dirty="0">
                <a:solidFill>
                  <a:srgbClr val="000000"/>
                </a:solidFill>
              </a:rPr>
              <a:t>Rental House Business Owner manages their rental properties effectively and efficiently</a:t>
            </a:r>
            <a:endParaRPr sz="1600" dirty="0">
              <a:solidFill>
                <a:srgbClr val="000000"/>
              </a:solidFill>
            </a:endParaRPr>
          </a:p>
          <a:p>
            <a:pPr marL="457200" marR="24765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 dirty="0">
                <a:solidFill>
                  <a:srgbClr val="000000"/>
                </a:solidFill>
              </a:rPr>
              <a:t>Potential Tenants have the means to search and book rental properties easily</a:t>
            </a:r>
            <a:endParaRPr sz="1600" dirty="0">
              <a:solidFill>
                <a:srgbClr val="000000"/>
              </a:solidFill>
            </a:endParaRPr>
          </a:p>
          <a:p>
            <a:pPr marL="457200" marR="24765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 dirty="0">
                <a:solidFill>
                  <a:srgbClr val="000000"/>
                </a:solidFill>
              </a:rPr>
              <a:t>Rental House Business Owner made data-driven decision from analytics</a:t>
            </a:r>
            <a:endParaRPr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Statement of the Objectives</a:t>
            </a:r>
            <a:endParaRPr dirty="0"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311700" y="862573"/>
            <a:ext cx="8520600" cy="3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24765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1. </a:t>
            </a:r>
            <a:r>
              <a:rPr lang="en-US" sz="1200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 a user-friendly platform for S&amp;M Products and Rentals to enhance the visibility and accessibility of rental house units for potential tenants by listing different rental house properties with the following essential information:</a:t>
            </a:r>
            <a:r>
              <a:rPr lang="en" sz="9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sz="9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14400" marR="247650" lvl="0" indent="-6985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</a:pPr>
            <a:r>
              <a:rPr lang="en-US" sz="1100" dirty="0">
                <a:solidFill>
                  <a:srgbClr val="000000"/>
                </a:solidFill>
              </a:rPr>
              <a:t>Availability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-6985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</a:pPr>
            <a:r>
              <a:rPr lang="en-US" sz="1100" dirty="0">
                <a:solidFill>
                  <a:srgbClr val="000000"/>
                </a:solidFill>
              </a:rPr>
              <a:t>Price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-6985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</a:pPr>
            <a:r>
              <a:rPr lang="en-US" sz="1100" dirty="0">
                <a:solidFill>
                  <a:srgbClr val="000000"/>
                </a:solidFill>
              </a:rPr>
              <a:t>Number of rooms and beds</a:t>
            </a:r>
          </a:p>
          <a:p>
            <a:pPr marL="914400" marR="247650" lvl="0" indent="-6985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</a:pPr>
            <a:r>
              <a:rPr lang="en-US" sz="1100" dirty="0">
                <a:solidFill>
                  <a:srgbClr val="000000"/>
                </a:solidFill>
              </a:rPr>
              <a:t>Landmarks near the location</a:t>
            </a:r>
            <a:endParaRPr sz="1100" dirty="0">
              <a:solidFill>
                <a:srgbClr val="000000"/>
              </a:solidFill>
            </a:endParaRPr>
          </a:p>
          <a:p>
            <a:pPr marL="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11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521755E-1373-12EA-0D35-F371B279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>
            <a:extLst>
              <a:ext uri="{FF2B5EF4-FFF2-40B4-BE49-F238E27FC236}">
                <a16:creationId xmlns:a16="http://schemas.microsoft.com/office/drawing/2014/main" id="{3DFC2E52-9C4A-1D50-B76C-B0BFBD138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Statement of the Objectives</a:t>
            </a:r>
            <a:endParaRPr dirty="0"/>
          </a:p>
        </p:txBody>
      </p:sp>
      <p:sp>
        <p:nvSpPr>
          <p:cNvPr id="106" name="Google Shape;106;p16">
            <a:extLst>
              <a:ext uri="{FF2B5EF4-FFF2-40B4-BE49-F238E27FC236}">
                <a16:creationId xmlns:a16="http://schemas.microsoft.com/office/drawing/2014/main" id="{DA10AB2F-75BD-4E0B-A278-F931747C9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62573"/>
            <a:ext cx="8520600" cy="3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247650" indent="0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</a:rPr>
              <a:t> 2. </a:t>
            </a:r>
            <a:r>
              <a:rPr lang="en-US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 an online booking system to automate rental house unit reservation that would do the following:</a:t>
            </a:r>
            <a:endParaRPr lang="en-US" sz="12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5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Simplifies the Rental Process for Both Landlords and Tenants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5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Reduce Administrative Overhead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5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 Transaction Efficiency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5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Record bookings through transaction history</a:t>
            </a:r>
          </a:p>
        </p:txBody>
      </p:sp>
    </p:spTree>
    <p:extLst>
      <p:ext uri="{BB962C8B-B14F-4D97-AF65-F5344CB8AC3E}">
        <p14:creationId xmlns:p14="http://schemas.microsoft.com/office/powerpoint/2010/main" val="2564439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 of the Objectives(cont’d)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247650" indent="0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100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Integrate predictive analytics tools to provide S&amp;M Products and Rentals to forecast future maintenance costs, monthly and daily bookings with actionable insights to enable informed decision making and strategic plans in terms of the following: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0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Bookings Seasonal Trends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0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Occupancy Rates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0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Financial Performance</a:t>
            </a:r>
          </a:p>
          <a:p>
            <a:pPr marL="342900" marR="247650" lvl="0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endParaRPr lang="en-US" sz="1100" u="none" strike="noStrike" kern="1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F6707B6-2E4A-F7EC-AFD4-F27B5E2E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8EE31B0B-7695-4F9C-5DCC-AF9274FEB8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 of the Objectives(cont’d)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1959CB0B-39FA-F32A-66F5-873159932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47650" indent="0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100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 Build an integrated website with the following features: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0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Chatbot for inquiries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0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Virtual Tour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0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Payment History</a:t>
            </a:r>
          </a:p>
          <a:p>
            <a:pPr marL="800100" marR="247650" lvl="1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en-US" sz="1000" u="none" strike="noStrike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Maintenance History</a:t>
            </a:r>
          </a:p>
          <a:p>
            <a:pPr marL="342900" marR="247650" lvl="0" indent="-342900" algn="just">
              <a:lnSpc>
                <a:spcPct val="200000"/>
              </a:lnSpc>
              <a:spcAft>
                <a:spcPts val="800"/>
              </a:spcAft>
              <a:buFont typeface="+mj-lt"/>
              <a:buAutoNum type="alphaLcPeriod"/>
            </a:pPr>
            <a:endParaRPr lang="en-US" sz="1100" u="none" strike="noStrike" kern="1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47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 of the Objectives(cont’d)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47650" lvl="0" indent="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5. Evaluate the system based on ISO 25010 series 2017 in terms of the   </a:t>
            </a:r>
            <a:endParaRPr sz="1100" dirty="0">
              <a:solidFill>
                <a:srgbClr val="000000"/>
              </a:solidFill>
            </a:endParaRPr>
          </a:p>
          <a:p>
            <a:pPr marL="0" marR="247650" lvl="0" indent="457200" algn="l" rtl="0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following: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a. Functional Suitability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b. Performance Efficiency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c. Compatibility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d. Usability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e. Reliability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f. Security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g. Maintainability</a:t>
            </a:r>
            <a:endParaRPr sz="1100" dirty="0">
              <a:solidFill>
                <a:srgbClr val="000000"/>
              </a:solidFill>
            </a:endParaRPr>
          </a:p>
          <a:p>
            <a:pPr marL="914400" marR="24765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</a:rPr>
              <a:t>h. Portability</a:t>
            </a:r>
            <a:endParaRPr sz="11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and Limitations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Rental Property Management systems to showcase:</a:t>
            </a:r>
            <a:endParaRPr dirty="0">
              <a:solidFill>
                <a:srgbClr val="00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dirty="0">
                <a:solidFill>
                  <a:srgbClr val="000000"/>
                </a:solidFill>
              </a:rPr>
              <a:t>Houses</a:t>
            </a:r>
            <a:endParaRPr dirty="0">
              <a:solidFill>
                <a:srgbClr val="00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dirty="0">
                <a:solidFill>
                  <a:srgbClr val="000000"/>
                </a:solidFill>
              </a:rPr>
              <a:t>Transient Houses</a:t>
            </a:r>
            <a:endParaRPr dirty="0">
              <a:solidFill>
                <a:srgbClr val="00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dirty="0">
                <a:solidFill>
                  <a:srgbClr val="000000"/>
                </a:solidFill>
              </a:rPr>
              <a:t>Bedspaces</a:t>
            </a:r>
            <a:endParaRPr dirty="0">
              <a:solidFill>
                <a:srgbClr val="00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dirty="0">
                <a:solidFill>
                  <a:srgbClr val="000000"/>
                </a:solidFill>
              </a:rPr>
              <a:t>Apartments</a:t>
            </a:r>
            <a:endParaRPr dirty="0">
              <a:solidFill>
                <a:srgbClr val="00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dirty="0">
                <a:solidFill>
                  <a:srgbClr val="000000"/>
                </a:solidFill>
              </a:rPr>
              <a:t>Rooms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Online Booking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Features</a:t>
            </a:r>
            <a:endParaRPr dirty="0">
              <a:solidFill>
                <a:srgbClr val="00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dirty="0">
                <a:solidFill>
                  <a:srgbClr val="000000"/>
                </a:solidFill>
              </a:rPr>
              <a:t>Chatbot Integration</a:t>
            </a:r>
            <a:endParaRPr dirty="0">
              <a:solidFill>
                <a:srgbClr val="0000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 dirty="0">
                <a:solidFill>
                  <a:srgbClr val="000000"/>
                </a:solidFill>
              </a:rPr>
              <a:t>Virtual Tour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and Limitations(cont’d)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Limited to One Rental House Business Only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Internet Dependency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Precision of Chatbot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Virtual Tour - Google Streetview, 360-degree Camera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Geolocation - OpenStreetmap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No Third Party API Payment Method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No Automatic Refund feature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Focuses on Predictive Analytics only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Framework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441000" y="10564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247650" lvl="0" indent="0" algn="l" rtl="0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 i="1">
                <a:latin typeface="Times New Roman"/>
                <a:ea typeface="Times New Roman"/>
                <a:cs typeface="Times New Roman"/>
                <a:sym typeface="Times New Roman"/>
              </a:rPr>
              <a:t>Double Diamond Design Model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C048C2-C52B-A1BD-E1C3-A1BED36C8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331" y="1598906"/>
            <a:ext cx="6143346" cy="31345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Related Literatures/Systems</a:t>
            </a:r>
            <a:endParaRPr dirty="0"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</a:rPr>
              <a:t>Property Management System</a:t>
            </a:r>
            <a:endParaRPr sz="1500" b="1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Castle(2021) - </a:t>
            </a:r>
            <a:r>
              <a:rPr lang="en" sz="1500" dirty="0">
                <a:solidFill>
                  <a:srgbClr val="000000"/>
                </a:solidFill>
              </a:rPr>
              <a:t>Property Management System was in demand from 1980s until now.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Labis(2023) </a:t>
            </a:r>
            <a:r>
              <a:rPr lang="en" sz="1500" dirty="0">
                <a:solidFill>
                  <a:srgbClr val="000000"/>
                </a:solidFill>
              </a:rPr>
              <a:t>- property management systems help the owners to save time and money in terms of managing properties since it is mobile and needs only few workers.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Magyar(2021) </a:t>
            </a:r>
            <a:r>
              <a:rPr lang="en" sz="1500" dirty="0">
                <a:solidFill>
                  <a:srgbClr val="000000"/>
                </a:solidFill>
              </a:rPr>
              <a:t> - Property Management systems reduced carbon emissions</a:t>
            </a:r>
            <a:endParaRPr sz="15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Literatures/Systems(cont’d)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Role of Chatbots in Integrated Website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Chatbot Magazine(2023) </a:t>
            </a:r>
            <a:r>
              <a:rPr lang="en" sz="1500">
                <a:solidFill>
                  <a:srgbClr val="000000"/>
                </a:solidFill>
              </a:rPr>
              <a:t>- Chatbots are rapidly transforming the property management landscape, offering significant advantages for both landlords and tenants </a:t>
            </a:r>
            <a:endParaRPr sz="15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Santos (2022) </a:t>
            </a:r>
            <a:r>
              <a:rPr lang="en" sz="1500">
                <a:solidFill>
                  <a:srgbClr val="000000"/>
                </a:solidFill>
              </a:rPr>
              <a:t>- chatbots can address frequently asked questions (FAQs) 24/7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Literatures/Systems(cont’d)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</a:rPr>
              <a:t>Predictive Analytics in Business</a:t>
            </a:r>
            <a:endParaRPr sz="1500" b="1" dirty="0">
              <a:solidFill>
                <a:srgbClr val="000000"/>
              </a:solidFill>
            </a:endParaRPr>
          </a:p>
          <a:p>
            <a:pPr marL="457200" lvl="0" indent="-316706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IBM(2024) - </a:t>
            </a:r>
            <a:r>
              <a:rPr lang="en" sz="1500" dirty="0">
                <a:solidFill>
                  <a:srgbClr val="000000"/>
                </a:solidFill>
              </a:rPr>
              <a:t>Predictive Analytics is a field that utilizes historical data and statistical techniques to forecast future trends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  <a:p>
            <a:pPr marL="457200" lvl="0" indent="-316706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Lamudi (2023) </a:t>
            </a:r>
            <a:r>
              <a:rPr lang="en" sz="1500" dirty="0">
                <a:solidFill>
                  <a:srgbClr val="000000"/>
                </a:solidFill>
              </a:rPr>
              <a:t>- Analyzing Historical rental data can predict future rental trends.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  <a:p>
            <a:pPr marL="457200" lvl="0" indent="-316706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Property Guru (2024) </a:t>
            </a:r>
            <a:r>
              <a:rPr lang="en" sz="1500" dirty="0">
                <a:solidFill>
                  <a:srgbClr val="000000"/>
                </a:solidFill>
              </a:rPr>
              <a:t>- predictive analytics can forecast occupancy rates.</a:t>
            </a:r>
            <a:endParaRPr sz="15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Literatures/Systems(cont’d)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</a:rPr>
              <a:t>Virtual Tour in Rental Applications</a:t>
            </a:r>
            <a:endParaRPr sz="1500" b="1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National Association of Realtors(2023) - </a:t>
            </a:r>
            <a:r>
              <a:rPr lang="en" sz="1500" dirty="0">
                <a:solidFill>
                  <a:srgbClr val="000000"/>
                </a:solidFill>
              </a:rPr>
              <a:t>surge in the popularity of virtual tours, offering a convenient and remote way for potential tenants to explore properties 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Dot Property Philippines (2024) </a:t>
            </a:r>
            <a:r>
              <a:rPr lang="en" sz="1500" dirty="0">
                <a:solidFill>
                  <a:srgbClr val="000000"/>
                </a:solidFill>
              </a:rPr>
              <a:t>- virtual tours are rapidly becoming the new standard in the Philippine real estate market.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The Red Marker (2023) </a:t>
            </a:r>
            <a:r>
              <a:rPr lang="en" sz="1500" dirty="0">
                <a:solidFill>
                  <a:srgbClr val="000000"/>
                </a:solidFill>
              </a:rPr>
              <a:t>- virtual tours can significantly increase the attractiveness of listings, potentially leading to a rise in qualified leads and reduced vacancy periods.</a:t>
            </a:r>
            <a:endParaRPr sz="15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Literatures/Systems(cont’d)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300"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</a:rPr>
              <a:t>Improved Transaction Efficiency through Online Transactions</a:t>
            </a:r>
            <a:endParaRPr sz="1500" b="1" dirty="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Tripathi et al. (2021) - </a:t>
            </a:r>
            <a:r>
              <a:rPr lang="en" sz="1500" dirty="0">
                <a:solidFill>
                  <a:srgbClr val="000000"/>
                </a:solidFill>
              </a:rPr>
              <a:t>highlights how blockchain can enhance transparency by ensuring secure and immutable transaction records, thereby reducing administrative overhead and potential disputes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MDPI (2020) </a:t>
            </a:r>
            <a:r>
              <a:rPr lang="en" sz="1500" dirty="0">
                <a:solidFill>
                  <a:srgbClr val="000000"/>
                </a:solidFill>
              </a:rPr>
              <a:t>- discusses the sustainability and efficiency gains from integrating mobile payment systems into digital financial services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 dirty="0">
                <a:solidFill>
                  <a:srgbClr val="000000"/>
                </a:solidFill>
              </a:rPr>
              <a:t>Taylor &amp; Francis(2023) - </a:t>
            </a:r>
            <a:r>
              <a:rPr lang="en" sz="1500" dirty="0">
                <a:solidFill>
                  <a:srgbClr val="000000"/>
                </a:solidFill>
              </a:rPr>
              <a:t>Fintech Solutions help automate most of the transactions such as real-time payments, and data analytics.</a:t>
            </a:r>
            <a:endParaRPr sz="15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5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Literatures/Systems(cont’d)</a:t>
            </a:r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0000"/>
                </a:solidFill>
              </a:rPr>
              <a:t>Rental Properties as Business</a:t>
            </a:r>
            <a:endParaRPr sz="1500" b="1"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</a:rPr>
              <a:t>Samarin and Sharma (2021) - 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stated that more than a billion tenants live in rental homes around the world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500" b="1" dirty="0">
                <a:solidFill>
                  <a:srgbClr val="000000"/>
                </a:solidFill>
                <a:highlight>
                  <a:srgbClr val="FFFFFF"/>
                </a:highlight>
              </a:rPr>
              <a:t>Recodo (2021) - </a:t>
            </a:r>
            <a:r>
              <a:rPr lang="en" sz="1500" dirty="0">
                <a:solidFill>
                  <a:srgbClr val="000000"/>
                </a:solidFill>
                <a:highlight>
                  <a:srgbClr val="FFFFFF"/>
                </a:highlight>
              </a:rPr>
              <a:t>house rental business is a good source of consistent income and is regarded as a type of investment</a:t>
            </a:r>
            <a:endParaRPr sz="15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Literatures/Systems(cont’d)</a:t>
            </a:r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The Need for GPS Proximity in a System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TomTom (2021) - </a:t>
            </a:r>
            <a:r>
              <a:rPr lang="en" sz="1500">
                <a:solidFill>
                  <a:srgbClr val="000000"/>
                </a:solidFill>
              </a:rPr>
              <a:t>GPS is a navigation technology utilized on land, sea, and air to precisely determine location, time, and velocity, regardless of weather conditions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Chime et al. (2021) -</a:t>
            </a:r>
            <a:r>
              <a:rPr lang="en" sz="1500">
                <a:solidFill>
                  <a:srgbClr val="000000"/>
                </a:solidFill>
              </a:rPr>
              <a:t> GPS aids in locating positions. </a:t>
            </a:r>
            <a:endParaRPr sz="1500"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500" b="1">
                <a:solidFill>
                  <a:srgbClr val="000000"/>
                </a:solidFill>
              </a:rPr>
              <a:t>Dhamodaran et al (2023) - </a:t>
            </a:r>
            <a:r>
              <a:rPr lang="en" sz="1500">
                <a:solidFill>
                  <a:srgbClr val="000000"/>
                </a:solidFill>
              </a:rPr>
              <a:t>GPS is one of several new features and improvements included in the proposed system for the house rental application to make the customer experience better</a:t>
            </a:r>
            <a:endParaRPr sz="2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Literatures/Systems(cont’d)</a:t>
            </a:r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The Use of Rental Trends in Business Success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Dong et al. (2020)</a:t>
            </a:r>
            <a:r>
              <a:rPr lang="en" sz="1500">
                <a:solidFill>
                  <a:srgbClr val="000000"/>
                </a:solidFill>
              </a:rPr>
              <a:t> - there has been a notable shift from a passive renting culture to actively buying, and then back to actively renting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Rubaszek and Rubio (2020)</a:t>
            </a:r>
            <a:r>
              <a:rPr lang="en" sz="1500">
                <a:solidFill>
                  <a:srgbClr val="000000"/>
                </a:solidFill>
              </a:rPr>
              <a:t> - assert that reducing the relative cost of renting compared to owning could influence rental prices 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Design</a:t>
            </a:r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dirty="0">
                <a:solidFill>
                  <a:srgbClr val="000000"/>
                </a:solidFill>
              </a:rPr>
              <a:t>Quantitative descriptive research design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dirty="0">
                <a:solidFill>
                  <a:srgbClr val="000000"/>
                </a:solidFill>
              </a:rPr>
              <a:t>ISO 25010 Series of 2017</a:t>
            </a: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endParaRPr lang="en" sz="1500" dirty="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sz="1600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arget population </a:t>
            </a:r>
            <a:endParaRPr sz="1600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dirty="0">
                <a:solidFill>
                  <a:srgbClr val="000000"/>
                </a:solidFill>
              </a:rPr>
              <a:t>Convenience Sampling Method</a:t>
            </a:r>
            <a:endParaRPr sz="15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Development Lifecycle</a:t>
            </a:r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>
                <a:solidFill>
                  <a:srgbClr val="000000"/>
                </a:solidFill>
              </a:rPr>
              <a:t>Adaptive Agile Development</a:t>
            </a:r>
            <a:endParaRPr b="1" dirty="0">
              <a:solidFill>
                <a:srgbClr val="000000"/>
              </a:solidFill>
            </a:endParaRPr>
          </a:p>
        </p:txBody>
      </p:sp>
      <p:pic>
        <p:nvPicPr>
          <p:cNvPr id="2" name="Picture 1" descr="Agile Software Development Life Cycle Phases for SaaS Founders">
            <a:extLst>
              <a:ext uri="{FF2B5EF4-FFF2-40B4-BE49-F238E27FC236}">
                <a16:creationId xmlns:a16="http://schemas.microsoft.com/office/drawing/2014/main" id="{FF46CE76-9ADD-BD9E-2E6F-C41E6F6531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0"/>
          <a:stretch/>
        </p:blipFill>
        <p:spPr bwMode="auto">
          <a:xfrm>
            <a:off x="1056537" y="1828800"/>
            <a:ext cx="6330381" cy="29182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204" name="Google Shape;204;p3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 i="1">
                <a:solidFill>
                  <a:srgbClr val="000000"/>
                </a:solidFill>
              </a:rPr>
              <a:t>Functional Requirements</a:t>
            </a:r>
            <a:endParaRPr sz="1500" b="1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User Registration and Authentication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Admin Dashboard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Property Browsing and Search 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Property Listings and Details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User Profile Management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Maintenance Tracking Dashboard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Communication (Chatbot-based)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Ratings and Reviews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Property Management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Booking and Availability Management</a:t>
            </a:r>
            <a:endParaRPr sz="1500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 (cont’d)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 i="1">
                <a:solidFill>
                  <a:srgbClr val="000000"/>
                </a:solidFill>
              </a:rPr>
              <a:t>Non-Functional Requirements</a:t>
            </a:r>
            <a:endParaRPr sz="1500" b="1" i="1">
              <a:solidFill>
                <a:srgbClr val="000000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1500" i="1">
                <a:solidFill>
                  <a:srgbClr val="000000"/>
                </a:solidFill>
              </a:rPr>
              <a:t>Performance Efficiency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Reliability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Security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Maintainability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Scalability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Usability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Compatibility</a:t>
            </a:r>
            <a:endParaRPr sz="1500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Documentations</a:t>
            </a:r>
            <a:endParaRPr/>
          </a:p>
        </p:txBody>
      </p:sp>
      <p:sp>
        <p:nvSpPr>
          <p:cNvPr id="216" name="Google Shape;216;p3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i="1" dirty="0">
                <a:solidFill>
                  <a:srgbClr val="000000"/>
                </a:solidFill>
              </a:rPr>
              <a:t>Data Gathering Procedures</a:t>
            </a:r>
            <a:endParaRPr sz="1500" i="1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dirty="0">
                <a:solidFill>
                  <a:srgbClr val="000000"/>
                </a:solidFill>
              </a:rPr>
              <a:t>Survey questionnaires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sz="1500" dirty="0">
                <a:solidFill>
                  <a:srgbClr val="000000"/>
                </a:solidFill>
              </a:rPr>
              <a:t>Google Forms – Online Survey Platform</a:t>
            </a:r>
            <a:endParaRPr sz="1500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sz="1500" dirty="0">
                <a:solidFill>
                  <a:srgbClr val="000000"/>
                </a:solidFill>
              </a:rPr>
              <a:t>To identify the difference between the existing process in booking rental units and the systems that will be developed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Documentations(cont’d)</a:t>
            </a:r>
            <a:endParaRPr/>
          </a:p>
        </p:txBody>
      </p:sp>
      <p:sp>
        <p:nvSpPr>
          <p:cNvPr id="222" name="Google Shape;222;p3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000000"/>
                </a:solidFill>
              </a:rPr>
              <a:t>Respondents of the Study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convenience sampling method</a:t>
            </a:r>
            <a:endParaRPr sz="15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population size of the chosen groups cannot be determined</a:t>
            </a:r>
            <a:endParaRPr sz="15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●"/>
            </a:pPr>
            <a:r>
              <a:rPr lang="en" sz="1500" b="1">
                <a:solidFill>
                  <a:srgbClr val="000000"/>
                </a:solidFill>
              </a:rPr>
              <a:t>Stratton </a:t>
            </a:r>
            <a:r>
              <a:rPr lang="en" sz="1500">
                <a:solidFill>
                  <a:srgbClr val="000000"/>
                </a:solidFill>
              </a:rPr>
              <a:t> (2021) - it is best to use non-probability sampling such as convenience sampling method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Documentations(cont’d)</a:t>
            </a:r>
            <a:endParaRPr/>
          </a:p>
        </p:txBody>
      </p:sp>
      <p:sp>
        <p:nvSpPr>
          <p:cNvPr id="228" name="Google Shape;228;p3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000000"/>
                </a:solidFill>
              </a:rPr>
              <a:t>Statistical Treatment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1500">
                <a:solidFill>
                  <a:srgbClr val="000000"/>
                </a:solidFill>
              </a:rPr>
              <a:t>Quantitative data analysis 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Tables for presentation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Formula:</a:t>
            </a:r>
            <a:endParaRPr sz="1500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>
                <a:solidFill>
                  <a:srgbClr val="000000"/>
                </a:solidFill>
              </a:rPr>
              <a:t>Weighted Mean</a:t>
            </a:r>
            <a:endParaRPr sz="1500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>
                <a:solidFill>
                  <a:srgbClr val="000000"/>
                </a:solidFill>
              </a:rPr>
              <a:t>Likert Scale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	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888" y="1288388"/>
            <a:ext cx="136207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4650" y="2397200"/>
            <a:ext cx="3947250" cy="19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>
            <a:spLocks noGrp="1"/>
          </p:cNvSpPr>
          <p:nvPr>
            <p:ph type="title"/>
          </p:nvPr>
        </p:nvSpPr>
        <p:spPr>
          <a:xfrm>
            <a:off x="311700" y="2666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Design of Software, Systems, Product, and/or Processes</a:t>
            </a:r>
            <a:endParaRPr sz="2300" dirty="0"/>
          </a:p>
        </p:txBody>
      </p:sp>
      <p:sp>
        <p:nvSpPr>
          <p:cNvPr id="236" name="Google Shape;236;p37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Use Case of the Existing Business Process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rgbClr val="000000"/>
              </a:solidFill>
            </a:endParaRPr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750" y="1353850"/>
            <a:ext cx="4561250" cy="34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>
            <a:spLocks noGrp="1"/>
          </p:cNvSpPr>
          <p:nvPr>
            <p:ph type="title"/>
          </p:nvPr>
        </p:nvSpPr>
        <p:spPr>
          <a:xfrm>
            <a:off x="311700" y="1904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3" name="Google Shape;243;p38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1" dirty="0">
                <a:solidFill>
                  <a:srgbClr val="000000"/>
                </a:solidFill>
              </a:rPr>
              <a:t>Data Flow Diagram of the Existing Business Process</a:t>
            </a:r>
            <a:endParaRPr sz="1500" b="1" dirty="0"/>
          </a:p>
        </p:txBody>
      </p:sp>
      <p:pic>
        <p:nvPicPr>
          <p:cNvPr id="244" name="Google Shape;2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1375" y="1438325"/>
            <a:ext cx="4561250" cy="36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>
            <a:spLocks noGrp="1"/>
          </p:cNvSpPr>
          <p:nvPr>
            <p:ph type="title"/>
          </p:nvPr>
        </p:nvSpPr>
        <p:spPr>
          <a:xfrm>
            <a:off x="311700" y="1789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" name="Google Shape;250;p39"/>
          <p:cNvSpPr txBox="1">
            <a:spLocks noGrp="1"/>
          </p:cNvSpPr>
          <p:nvPr>
            <p:ph type="body" idx="1"/>
          </p:nvPr>
        </p:nvSpPr>
        <p:spPr>
          <a:xfrm>
            <a:off x="311700" y="972976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>
                <a:solidFill>
                  <a:srgbClr val="000000"/>
                </a:solidFill>
              </a:rPr>
              <a:t>Use Case of the Proposed System (RentaNest)</a:t>
            </a:r>
            <a:endParaRPr b="1" dirty="0">
              <a:solidFill>
                <a:srgbClr val="000000"/>
              </a:solidFill>
            </a:endParaRPr>
          </a:p>
        </p:txBody>
      </p:sp>
      <p:pic>
        <p:nvPicPr>
          <p:cNvPr id="251" name="Google Shape;25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000" y="1390850"/>
            <a:ext cx="4127150" cy="36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Design of Software, Systems, Product, and/or Processes(cont’d)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40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Context Diagram of the Proposed System (RentaNest)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rgbClr val="000000"/>
              </a:solidFill>
            </a:endParaRPr>
          </a:p>
        </p:txBody>
      </p:sp>
      <p:pic>
        <p:nvPicPr>
          <p:cNvPr id="258" name="Google Shape;2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125" y="1376113"/>
            <a:ext cx="557212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>
            <a:spLocks noGrp="1"/>
          </p:cNvSpPr>
          <p:nvPr>
            <p:ph type="title"/>
          </p:nvPr>
        </p:nvSpPr>
        <p:spPr>
          <a:xfrm>
            <a:off x="311700" y="22213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4" name="Google Shape;264;p41"/>
          <p:cNvSpPr txBox="1">
            <a:spLocks noGrp="1"/>
          </p:cNvSpPr>
          <p:nvPr>
            <p:ph type="body" idx="1"/>
          </p:nvPr>
        </p:nvSpPr>
        <p:spPr>
          <a:xfrm>
            <a:off x="365375" y="7495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Data Flow Diagram of the Proposed System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265" name="Google Shape;26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825" y="1118325"/>
            <a:ext cx="6649276" cy="392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>
            <a:spLocks noGrp="1"/>
          </p:cNvSpPr>
          <p:nvPr>
            <p:ph type="title"/>
          </p:nvPr>
        </p:nvSpPr>
        <p:spPr>
          <a:xfrm>
            <a:off x="311700" y="81288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1" name="Google Shape;271;p42"/>
          <p:cNvSpPr txBox="1">
            <a:spLocks noGrp="1"/>
          </p:cNvSpPr>
          <p:nvPr>
            <p:ph type="body" idx="1"/>
          </p:nvPr>
        </p:nvSpPr>
        <p:spPr>
          <a:xfrm>
            <a:off x="311700" y="7737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Entity Relationship Diagram</a:t>
            </a:r>
            <a:endParaRPr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rgbClr val="000000"/>
              </a:solidFill>
            </a:endParaRPr>
          </a:p>
        </p:txBody>
      </p:sp>
      <p:pic>
        <p:nvPicPr>
          <p:cNvPr id="272" name="Google Shape;27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300" y="1212225"/>
            <a:ext cx="6783425" cy="38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>
            <a:spLocks noGrp="1"/>
          </p:cNvSpPr>
          <p:nvPr>
            <p:ph type="title"/>
          </p:nvPr>
        </p:nvSpPr>
        <p:spPr>
          <a:xfrm>
            <a:off x="311700" y="435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43"/>
          <p:cNvSpPr txBox="1">
            <a:spLocks noGrp="1"/>
          </p:cNvSpPr>
          <p:nvPr>
            <p:ph type="body" idx="1"/>
          </p:nvPr>
        </p:nvSpPr>
        <p:spPr>
          <a:xfrm>
            <a:off x="311700" y="84082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Database Schema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279" name="Google Shape;279;p43"/>
          <p:cNvPicPr preferRelativeResize="0"/>
          <p:nvPr/>
        </p:nvPicPr>
        <p:blipFill rotWithShape="1">
          <a:blip r:embed="rId3">
            <a:alphaModFix/>
          </a:blip>
          <a:srcRect t="990"/>
          <a:stretch/>
        </p:blipFill>
        <p:spPr>
          <a:xfrm>
            <a:off x="1998925" y="1260375"/>
            <a:ext cx="5003150" cy="37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" name="Google Shape;285;p44"/>
          <p:cNvSpPr txBox="1">
            <a:spLocks noGrp="1"/>
          </p:cNvSpPr>
          <p:nvPr>
            <p:ph type="body" idx="1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286" name="Google Shape;28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650" y="1390813"/>
            <a:ext cx="5600700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>
            <a:spLocks noGrp="1"/>
          </p:cNvSpPr>
          <p:nvPr>
            <p:ph type="title"/>
          </p:nvPr>
        </p:nvSpPr>
        <p:spPr>
          <a:xfrm>
            <a:off x="311700" y="135601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" name="Google Shape;292;p45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293" name="Google Shape;29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075" y="1017800"/>
            <a:ext cx="5191774" cy="399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 txBox="1">
            <a:spLocks noGrp="1"/>
          </p:cNvSpPr>
          <p:nvPr>
            <p:ph type="title"/>
          </p:nvPr>
        </p:nvSpPr>
        <p:spPr>
          <a:xfrm>
            <a:off x="311700" y="17975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46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300" name="Google Shape;300;p46"/>
          <p:cNvPicPr preferRelativeResize="0"/>
          <p:nvPr/>
        </p:nvPicPr>
        <p:blipFill rotWithShape="1">
          <a:blip r:embed="rId3">
            <a:alphaModFix/>
          </a:blip>
          <a:srcRect t="7132"/>
          <a:stretch/>
        </p:blipFill>
        <p:spPr>
          <a:xfrm>
            <a:off x="2106450" y="1448875"/>
            <a:ext cx="4931100" cy="35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>
            <a:spLocks noGrp="1"/>
          </p:cNvSpPr>
          <p:nvPr>
            <p:ph type="title"/>
          </p:nvPr>
        </p:nvSpPr>
        <p:spPr>
          <a:xfrm>
            <a:off x="311700" y="13742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p47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307" name="Google Shape;30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0275" y="1107575"/>
            <a:ext cx="5463450" cy="38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8"/>
          <p:cNvSpPr txBox="1">
            <a:spLocks noGrp="1"/>
          </p:cNvSpPr>
          <p:nvPr>
            <p:ph type="title"/>
          </p:nvPr>
        </p:nvSpPr>
        <p:spPr>
          <a:xfrm>
            <a:off x="311700" y="172407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p48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314" name="Google Shape;3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725" y="1524825"/>
            <a:ext cx="5724525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>
            <a:spLocks noGrp="1"/>
          </p:cNvSpPr>
          <p:nvPr>
            <p:ph type="title"/>
          </p:nvPr>
        </p:nvSpPr>
        <p:spPr>
          <a:xfrm>
            <a:off x="311700" y="4832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0" name="Google Shape;320;p49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321" name="Google Shape;321;p49"/>
          <p:cNvPicPr preferRelativeResize="0"/>
          <p:nvPr/>
        </p:nvPicPr>
        <p:blipFill rotWithShape="1">
          <a:blip r:embed="rId3">
            <a:alphaModFix/>
          </a:blip>
          <a:srcRect t="7961"/>
          <a:stretch/>
        </p:blipFill>
        <p:spPr>
          <a:xfrm>
            <a:off x="1922775" y="1017800"/>
            <a:ext cx="5428900" cy="40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0"/>
          <p:cNvSpPr txBox="1">
            <a:spLocks noGrp="1"/>
          </p:cNvSpPr>
          <p:nvPr>
            <p:ph type="title"/>
          </p:nvPr>
        </p:nvSpPr>
        <p:spPr>
          <a:xfrm>
            <a:off x="311700" y="1074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7" name="Google Shape;327;p50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328" name="Google Shape;32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788" y="1276350"/>
            <a:ext cx="568642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1"/>
          <p:cNvSpPr txBox="1">
            <a:spLocks noGrp="1"/>
          </p:cNvSpPr>
          <p:nvPr>
            <p:ph type="title"/>
          </p:nvPr>
        </p:nvSpPr>
        <p:spPr>
          <a:xfrm>
            <a:off x="311700" y="185882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51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335" name="Google Shape;33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1433513"/>
            <a:ext cx="571500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"/>
          <p:cNvSpPr txBox="1">
            <a:spLocks noGrp="1"/>
          </p:cNvSpPr>
          <p:nvPr>
            <p:ph type="title"/>
          </p:nvPr>
        </p:nvSpPr>
        <p:spPr>
          <a:xfrm>
            <a:off x="311700" y="132094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 dirty="0"/>
              <a:t>Design of Software, Systems, Product, and/or Processes(cont’d)</a:t>
            </a:r>
            <a:endParaRPr sz="2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p52"/>
          <p:cNvSpPr txBox="1">
            <a:spLocks noGrp="1"/>
          </p:cNvSpPr>
          <p:nvPr>
            <p:ph type="body" idx="1"/>
          </p:nvPr>
        </p:nvSpPr>
        <p:spPr>
          <a:xfrm>
            <a:off x="311700" y="902250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Data Dictionary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342" name="Google Shape;34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788" y="1466850"/>
            <a:ext cx="568642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3"/>
          <p:cNvSpPr txBox="1">
            <a:spLocks noGrp="1"/>
          </p:cNvSpPr>
          <p:nvPr>
            <p:ph type="title"/>
          </p:nvPr>
        </p:nvSpPr>
        <p:spPr>
          <a:xfrm>
            <a:off x="311700" y="62688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 </a:t>
            </a:r>
            <a:endParaRPr dirty="0"/>
          </a:p>
        </p:txBody>
      </p:sp>
      <p:sp>
        <p:nvSpPr>
          <p:cNvPr id="348" name="Google Shape;348;p53"/>
          <p:cNvSpPr txBox="1">
            <a:spLocks noGrp="1"/>
          </p:cNvSpPr>
          <p:nvPr>
            <p:ph type="body" idx="1"/>
          </p:nvPr>
        </p:nvSpPr>
        <p:spPr>
          <a:xfrm>
            <a:off x="311700" y="83152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Prototype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349" name="Google Shape;34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050" y="1153600"/>
            <a:ext cx="573405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4"/>
          <p:cNvSpPr txBox="1">
            <a:spLocks noGrp="1"/>
          </p:cNvSpPr>
          <p:nvPr>
            <p:ph type="title"/>
          </p:nvPr>
        </p:nvSpPr>
        <p:spPr>
          <a:xfrm>
            <a:off x="311700" y="725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</a:t>
            </a:r>
            <a:endParaRPr sz="2300" dirty="0"/>
          </a:p>
        </p:txBody>
      </p:sp>
      <p:pic>
        <p:nvPicPr>
          <p:cNvPr id="355" name="Google Shape;35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175" y="967325"/>
            <a:ext cx="5856050" cy="37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>
            <a:spLocks noGrp="1"/>
          </p:cNvSpPr>
          <p:nvPr>
            <p:ph type="title"/>
          </p:nvPr>
        </p:nvSpPr>
        <p:spPr>
          <a:xfrm>
            <a:off x="311700" y="8032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</a:t>
            </a:r>
            <a:endParaRPr sz="2300" dirty="0"/>
          </a:p>
        </p:txBody>
      </p:sp>
      <p:pic>
        <p:nvPicPr>
          <p:cNvPr id="361" name="Google Shape;36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325" y="866275"/>
            <a:ext cx="5832700" cy="41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6"/>
          <p:cNvSpPr txBox="1">
            <a:spLocks noGrp="1"/>
          </p:cNvSpPr>
          <p:nvPr>
            <p:ph type="title"/>
          </p:nvPr>
        </p:nvSpPr>
        <p:spPr>
          <a:xfrm>
            <a:off x="311700" y="4455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</a:t>
            </a:r>
            <a:endParaRPr sz="2300" dirty="0"/>
          </a:p>
        </p:txBody>
      </p:sp>
      <p:pic>
        <p:nvPicPr>
          <p:cNvPr id="367" name="Google Shape;36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927900"/>
            <a:ext cx="5695950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</a:t>
            </a:r>
            <a:endParaRPr sz="2300" dirty="0"/>
          </a:p>
        </p:txBody>
      </p:sp>
      <p:pic>
        <p:nvPicPr>
          <p:cNvPr id="373" name="Google Shape;37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975" y="880500"/>
            <a:ext cx="3228852" cy="3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8"/>
          <p:cNvSpPr txBox="1">
            <a:spLocks noGrp="1"/>
          </p:cNvSpPr>
          <p:nvPr>
            <p:ph type="title"/>
          </p:nvPr>
        </p:nvSpPr>
        <p:spPr>
          <a:xfrm>
            <a:off x="311700" y="9623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</a:t>
            </a:r>
            <a:endParaRPr sz="2300" dirty="0"/>
          </a:p>
        </p:txBody>
      </p:sp>
      <p:pic>
        <p:nvPicPr>
          <p:cNvPr id="379" name="Google Shape;37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1017800"/>
            <a:ext cx="5715000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9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</a:t>
            </a:r>
            <a:endParaRPr sz="2300" dirty="0"/>
          </a:p>
        </p:txBody>
      </p:sp>
      <p:pic>
        <p:nvPicPr>
          <p:cNvPr id="385" name="Google Shape;38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923" y="782000"/>
            <a:ext cx="3611099" cy="427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0"/>
          <p:cNvSpPr txBox="1">
            <a:spLocks noGrp="1"/>
          </p:cNvSpPr>
          <p:nvPr>
            <p:ph type="title"/>
          </p:nvPr>
        </p:nvSpPr>
        <p:spPr>
          <a:xfrm>
            <a:off x="311700" y="18415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</a:t>
            </a:r>
            <a:endParaRPr sz="2300" dirty="0"/>
          </a:p>
        </p:txBody>
      </p:sp>
      <p:pic>
        <p:nvPicPr>
          <p:cNvPr id="391" name="Google Shape;39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775" y="1017800"/>
            <a:ext cx="51244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1"/>
          <p:cNvSpPr txBox="1">
            <a:spLocks noGrp="1"/>
          </p:cNvSpPr>
          <p:nvPr>
            <p:ph type="title"/>
          </p:nvPr>
        </p:nvSpPr>
        <p:spPr>
          <a:xfrm>
            <a:off x="311700" y="185883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 dirty="0"/>
              <a:t>Development and Testing</a:t>
            </a:r>
            <a:endParaRPr sz="2300" dirty="0"/>
          </a:p>
        </p:txBody>
      </p:sp>
      <p:pic>
        <p:nvPicPr>
          <p:cNvPr id="397" name="Google Shape;39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450" y="1066788"/>
            <a:ext cx="5219700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 25010 series of 2017</a:t>
            </a:r>
            <a:endParaRPr/>
          </a:p>
        </p:txBody>
      </p:sp>
      <p:sp>
        <p:nvSpPr>
          <p:cNvPr id="403" name="Google Shape;403;p6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Functional Suitability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Functional completeness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Functional correctness</a:t>
            </a:r>
            <a:r>
              <a:rPr lang="en" sz="1500">
                <a:solidFill>
                  <a:srgbClr val="000000"/>
                </a:solidFill>
              </a:rPr>
              <a:t> 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Functional appropriateness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 25010 series of 2017</a:t>
            </a:r>
            <a:endParaRPr/>
          </a:p>
        </p:txBody>
      </p:sp>
      <p:sp>
        <p:nvSpPr>
          <p:cNvPr id="409" name="Google Shape;409;p6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Performance Efficiency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Time behavior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Resource utilization</a:t>
            </a:r>
            <a:r>
              <a:rPr lang="en" sz="1500">
                <a:solidFill>
                  <a:srgbClr val="000000"/>
                </a:solidFill>
              </a:rPr>
              <a:t> 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Capacity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 25010 series of 2017</a:t>
            </a:r>
            <a:endParaRPr/>
          </a:p>
        </p:txBody>
      </p:sp>
      <p:sp>
        <p:nvSpPr>
          <p:cNvPr id="415" name="Google Shape;415;p6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Compatibility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Co-existence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Interoperability</a:t>
            </a:r>
            <a:endParaRPr sz="15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 25010 series of 2017</a:t>
            </a:r>
            <a:endParaRPr/>
          </a:p>
        </p:txBody>
      </p:sp>
      <p:sp>
        <p:nvSpPr>
          <p:cNvPr id="421" name="Google Shape;421;p6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Usability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Appropriateness recognizability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Learnability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Operability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User error protection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User interface aesthetics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Accessibility</a:t>
            </a:r>
            <a:endParaRPr sz="1500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 25010 series of 2017</a:t>
            </a:r>
            <a:endParaRPr/>
          </a:p>
        </p:txBody>
      </p:sp>
      <p:sp>
        <p:nvSpPr>
          <p:cNvPr id="427" name="Google Shape;427;p6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Reliability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Maturity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Availability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Fault tolerance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Recoverability</a:t>
            </a:r>
            <a:endParaRPr sz="1500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 25010 series of 2017</a:t>
            </a:r>
            <a:endParaRPr/>
          </a:p>
        </p:txBody>
      </p:sp>
      <p:sp>
        <p:nvSpPr>
          <p:cNvPr id="433" name="Google Shape;433;p6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Security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Confidentiality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Integrity</a:t>
            </a:r>
            <a:r>
              <a:rPr lang="en" sz="1500">
                <a:solidFill>
                  <a:srgbClr val="000000"/>
                </a:solidFill>
              </a:rPr>
              <a:t> 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Non-repudiation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Accountability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Authenticity</a:t>
            </a:r>
            <a:endParaRPr sz="1500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 25010 series of 2017</a:t>
            </a:r>
            <a:endParaRPr/>
          </a:p>
        </p:txBody>
      </p:sp>
      <p:sp>
        <p:nvSpPr>
          <p:cNvPr id="439" name="Google Shape;439;p6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Maintainability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Modularity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Reusability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Analyzability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Modifiability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Testability</a:t>
            </a:r>
            <a:endParaRPr sz="1500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 25010 series of 2017</a:t>
            </a:r>
            <a:endParaRPr/>
          </a:p>
        </p:txBody>
      </p:sp>
      <p:sp>
        <p:nvSpPr>
          <p:cNvPr id="445" name="Google Shape;445;p6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Portability</a:t>
            </a: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Adaptability</a:t>
            </a:r>
            <a:endParaRPr sz="1500" i="1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Installability</a:t>
            </a:r>
            <a:endParaRPr sz="1500">
              <a:solidFill>
                <a:srgbClr val="00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Char char="●"/>
            </a:pPr>
            <a:r>
              <a:rPr lang="en" sz="1500" i="1">
                <a:solidFill>
                  <a:srgbClr val="000000"/>
                </a:solidFill>
              </a:rPr>
              <a:t>Replaceability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1841-DE79-0A21-D2D1-B4907EC6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Discussions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7CE5D-1B90-49E2-1781-93111BF14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respondents – Tenants of S&amp;M Products and Rentals</a:t>
            </a:r>
          </a:p>
          <a:p>
            <a:r>
              <a:rPr lang="en-US" dirty="0"/>
              <a:t>Google Forms</a:t>
            </a:r>
          </a:p>
          <a:p>
            <a:r>
              <a:rPr lang="en-US" dirty="0"/>
              <a:t>Video Demo of the proposed system</a:t>
            </a:r>
          </a:p>
          <a:p>
            <a:endParaRPr lang="en-US" dirty="0"/>
          </a:p>
          <a:p>
            <a:r>
              <a:rPr lang="en-US" dirty="0"/>
              <a:t>Users can see the availability, price, number of rooms and beds, landmarks near the location, and the ratings of the rental house units.</a:t>
            </a:r>
          </a:p>
          <a:p>
            <a:r>
              <a:rPr lang="en-US" dirty="0"/>
              <a:t>Users can describe the process of online booking can help them to book easily</a:t>
            </a:r>
          </a:p>
          <a:p>
            <a:r>
              <a:rPr lang="en-US" dirty="0"/>
              <a:t>Less time managing inquiries and bookings</a:t>
            </a:r>
          </a:p>
          <a:p>
            <a:r>
              <a:rPr lang="en-US" dirty="0"/>
              <a:t>Transaction/ Booking History ---- Visible to Owner and Users</a:t>
            </a:r>
          </a:p>
        </p:txBody>
      </p:sp>
    </p:spTree>
    <p:extLst>
      <p:ext uri="{BB962C8B-B14F-4D97-AF65-F5344CB8AC3E}">
        <p14:creationId xmlns:p14="http://schemas.microsoft.com/office/powerpoint/2010/main" val="17833367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AD48-25CC-C0DE-A292-FF378243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DF4D-38AD-478E-3FEA-789B3C65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Discussions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5C7B1-C4D2-67CF-4473-A0B710318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9876"/>
            <a:ext cx="8520600" cy="3339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Payment History</a:t>
            </a:r>
          </a:p>
          <a:p>
            <a:r>
              <a:rPr lang="en-US" dirty="0"/>
              <a:t>Business Insights for the business owner (not Included in the questionnaire)</a:t>
            </a:r>
          </a:p>
          <a:p>
            <a:pPr lvl="1"/>
            <a:r>
              <a:rPr lang="en-US" dirty="0"/>
              <a:t>Descriptive Analytics</a:t>
            </a:r>
          </a:p>
          <a:p>
            <a:pPr lvl="2"/>
            <a:r>
              <a:rPr lang="en-US" dirty="0"/>
              <a:t>Monthly Incomes</a:t>
            </a:r>
          </a:p>
          <a:p>
            <a:pPr lvl="2"/>
            <a:r>
              <a:rPr lang="en-US" dirty="0"/>
              <a:t>Number of Maintenance per month</a:t>
            </a:r>
          </a:p>
          <a:p>
            <a:pPr lvl="2"/>
            <a:r>
              <a:rPr lang="en-US" dirty="0"/>
              <a:t>Property with the highest Bookings</a:t>
            </a:r>
          </a:p>
          <a:p>
            <a:pPr lvl="1"/>
            <a:r>
              <a:rPr lang="en-US" dirty="0"/>
              <a:t>Predictive Analytics</a:t>
            </a:r>
          </a:p>
          <a:p>
            <a:pPr lvl="2"/>
            <a:r>
              <a:rPr lang="en-US" dirty="0"/>
              <a:t>Monthly Bookings</a:t>
            </a:r>
          </a:p>
          <a:p>
            <a:pPr lvl="2"/>
            <a:r>
              <a:rPr lang="en-US" dirty="0"/>
              <a:t>Daily Bookings</a:t>
            </a:r>
          </a:p>
          <a:p>
            <a:pPr lvl="2"/>
            <a:r>
              <a:rPr lang="en-US" dirty="0"/>
              <a:t>Maintenance Costs per month</a:t>
            </a:r>
          </a:p>
          <a:p>
            <a:r>
              <a:rPr lang="en-US" dirty="0"/>
              <a:t>Improved Current Business Processes</a:t>
            </a:r>
          </a:p>
          <a:p>
            <a:pPr lvl="1"/>
            <a:r>
              <a:rPr lang="en-US" dirty="0"/>
              <a:t>User Experience</a:t>
            </a:r>
          </a:p>
          <a:p>
            <a:pPr lvl="1"/>
            <a:r>
              <a:rPr lang="en-US" dirty="0"/>
              <a:t>Administrative Efficiency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501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F92E-D0BE-C3DF-6291-3A57CFAD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90E9-01FE-DB63-563F-EA814E75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61683-A896-8BE9-EDE6-793768D6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9876"/>
            <a:ext cx="4260300" cy="3503624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Functional Suitability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</a:t>
            </a:r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 respondents described the system as functional.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1 has got 3.98 weighted mean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64 out of 100 Respondents</a:t>
            </a:r>
          </a:p>
          <a:p>
            <a:r>
              <a:rPr lang="en-US" sz="14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Accuracy and Timeliness</a:t>
            </a:r>
          </a:p>
          <a:p>
            <a:r>
              <a:rPr lang="en-US" sz="14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Taplin(2024) – On going process; Key for building trust and credibility</a:t>
            </a:r>
          </a:p>
          <a:p>
            <a:r>
              <a:rPr lang="en-US" sz="14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Avoiding Mistakes and Wrong Decisions</a:t>
            </a:r>
          </a:p>
          <a:p>
            <a:r>
              <a:rPr lang="en-US" sz="14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5 – 59 out of 100 </a:t>
            </a:r>
          </a:p>
          <a:p>
            <a:r>
              <a:rPr lang="en-US" sz="14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Payment history for tracking users’ transactions</a:t>
            </a:r>
          </a:p>
          <a:p>
            <a:endParaRPr lang="en-US" sz="12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03B44F-BF78-9998-36F5-403DD3B3E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559780"/>
              </p:ext>
            </p:extLst>
          </p:nvPr>
        </p:nvGraphicFramePr>
        <p:xfrm>
          <a:off x="4572000" y="1434356"/>
          <a:ext cx="4166946" cy="27916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9898">
                  <a:extLst>
                    <a:ext uri="{9D8B030D-6E8A-4147-A177-3AD203B41FA5}">
                      <a16:colId xmlns:a16="http://schemas.microsoft.com/office/drawing/2014/main" val="665735602"/>
                    </a:ext>
                  </a:extLst>
                </a:gridCol>
                <a:gridCol w="589824">
                  <a:extLst>
                    <a:ext uri="{9D8B030D-6E8A-4147-A177-3AD203B41FA5}">
                      <a16:colId xmlns:a16="http://schemas.microsoft.com/office/drawing/2014/main" val="3362540908"/>
                    </a:ext>
                  </a:extLst>
                </a:gridCol>
                <a:gridCol w="887224">
                  <a:extLst>
                    <a:ext uri="{9D8B030D-6E8A-4147-A177-3AD203B41FA5}">
                      <a16:colId xmlns:a16="http://schemas.microsoft.com/office/drawing/2014/main" val="1307420038"/>
                    </a:ext>
                  </a:extLst>
                </a:gridCol>
              </a:tblGrid>
              <a:tr h="5096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Statements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9449261"/>
                  </a:ext>
                </a:extLst>
              </a:tr>
              <a:tr h="5096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The system provides accurate and up-to-date information on available rental properties.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3.98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 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3104266"/>
                  </a:ext>
                </a:extLst>
              </a:tr>
              <a:tr h="472103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The descriptions and photos in the system are detailed and helpful for choosing rental preferences.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3.90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7905735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Users can easily filter rental house unit properties based on their preferences.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3.96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9758954"/>
                  </a:ext>
                </a:extLst>
              </a:tr>
              <a:tr h="472103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The system provides needed information to help users produce informed decision.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3.97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0138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5.  Users can track their payment history in real-time.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3.70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8041923"/>
                  </a:ext>
                </a:extLst>
              </a:tr>
              <a:tr h="1604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3.90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3069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714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D833-7088-1E2F-1929-F2C5CC80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27D6-DFA6-A30D-D8F2-6BFEEF66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2A7C7-3354-7066-42B8-214751671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9876"/>
            <a:ext cx="4260300" cy="3503624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Performance Efficiency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5 -3.99 weighted mean</a:t>
            </a:r>
          </a:p>
          <a:p>
            <a:r>
              <a:rPr lang="en-US" sz="1200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Grigoropolous</a:t>
            </a:r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(2023) – page load is related to user retention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Google –Load time 1 to 3 seconds increases bounce off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3 -3.79 weighted means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Average weighted mean – 3.88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Respondents agreed about the responsiveness and page load speed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0BDA11-8941-825D-F25D-A308EE3C2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489357"/>
              </p:ext>
            </p:extLst>
          </p:nvPr>
        </p:nvGraphicFramePr>
        <p:xfrm>
          <a:off x="4711725" y="1564648"/>
          <a:ext cx="4260301" cy="24724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6964">
                  <a:extLst>
                    <a:ext uri="{9D8B030D-6E8A-4147-A177-3AD203B41FA5}">
                      <a16:colId xmlns:a16="http://schemas.microsoft.com/office/drawing/2014/main" val="3525585929"/>
                    </a:ext>
                  </a:extLst>
                </a:gridCol>
                <a:gridCol w="611109">
                  <a:extLst>
                    <a:ext uri="{9D8B030D-6E8A-4147-A177-3AD203B41FA5}">
                      <a16:colId xmlns:a16="http://schemas.microsoft.com/office/drawing/2014/main" val="2282915515"/>
                    </a:ext>
                  </a:extLst>
                </a:gridCol>
                <a:gridCol w="862228">
                  <a:extLst>
                    <a:ext uri="{9D8B030D-6E8A-4147-A177-3AD203B41FA5}">
                      <a16:colId xmlns:a16="http://schemas.microsoft.com/office/drawing/2014/main" val="940156427"/>
                    </a:ext>
                  </a:extLst>
                </a:gridCol>
              </a:tblGrid>
              <a:tr h="5053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Statements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8863452"/>
                  </a:ext>
                </a:extLst>
              </a:tr>
              <a:tr h="5053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Users experience responsive processes such as giving fast results (e. g. Filtering House units with low prices).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3.87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5225644"/>
                  </a:ext>
                </a:extLst>
              </a:tr>
              <a:tr h="308549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The systems process rental bookings efficiently.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3.85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6184906"/>
                  </a:ext>
                </a:extLst>
              </a:tr>
              <a:tr h="308549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The images of virtual tour features load quickly without interruptions.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3.79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6272745"/>
                  </a:ext>
                </a:extLst>
              </a:tr>
              <a:tr h="308549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Users do not experience lag while navigating through property listings.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3.89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471203"/>
                  </a:ext>
                </a:extLst>
              </a:tr>
              <a:tr h="3322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5.  The images of all the rental house units are responsive and load quickly.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3.99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9422704"/>
                  </a:ext>
                </a:extLst>
              </a:tr>
              <a:tr h="1590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3.88</a:t>
                      </a:r>
                      <a:endParaRPr lang="en-US" sz="10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0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989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4280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6C83A-C2F2-8DDB-1DDC-1131EAC4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B9645-9921-EE94-15D0-9D66A9A1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26EB8-9CE8-3A8C-E0ED-D305059EC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9876"/>
            <a:ext cx="4260300" cy="3503624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Compatibility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3.85 average weighted mean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4 – 3.97 weighted mean ; 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 1 – 3.96 weighted mean ; 55 out of 100</a:t>
            </a:r>
          </a:p>
          <a:p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Shira(2023) – mobile devices reshaped how the users browse the internet (</a:t>
            </a:r>
            <a:r>
              <a:rPr lang="en-US" sz="1200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ex.Smartphones</a:t>
            </a:r>
            <a:r>
              <a:rPr lang="en-US" sz="12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esponsiveness of website is essential for platform to be accessible in different devices </a:t>
            </a:r>
          </a:p>
          <a:p>
            <a:r>
              <a:rPr lang="en-US" sz="1100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sers have their own preferences on device they will use – responsive web design</a:t>
            </a:r>
          </a:p>
          <a:p>
            <a:r>
              <a:rPr lang="en-US" sz="1100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5 - 3.70 weighted mean ; 50 out of 100</a:t>
            </a:r>
          </a:p>
          <a:p>
            <a:r>
              <a:rPr lang="en-US" sz="1100" kern="1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See the uniqueness of the  website interface</a:t>
            </a:r>
            <a:endParaRPr lang="en-US" sz="11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2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C5BC7E-8375-4971-B149-122A915AB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779765"/>
              </p:ext>
            </p:extLst>
          </p:nvPr>
        </p:nvGraphicFramePr>
        <p:xfrm>
          <a:off x="4815690" y="1376509"/>
          <a:ext cx="4157980" cy="28906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20028">
                  <a:extLst>
                    <a:ext uri="{9D8B030D-6E8A-4147-A177-3AD203B41FA5}">
                      <a16:colId xmlns:a16="http://schemas.microsoft.com/office/drawing/2014/main" val="675484617"/>
                    </a:ext>
                  </a:extLst>
                </a:gridCol>
                <a:gridCol w="596432">
                  <a:extLst>
                    <a:ext uri="{9D8B030D-6E8A-4147-A177-3AD203B41FA5}">
                      <a16:colId xmlns:a16="http://schemas.microsoft.com/office/drawing/2014/main" val="3498180993"/>
                    </a:ext>
                  </a:extLst>
                </a:gridCol>
                <a:gridCol w="841520">
                  <a:extLst>
                    <a:ext uri="{9D8B030D-6E8A-4147-A177-3AD203B41FA5}">
                      <a16:colId xmlns:a16="http://schemas.microsoft.com/office/drawing/2014/main" val="4171749776"/>
                    </a:ext>
                  </a:extLst>
                </a:gridCol>
              </a:tblGrid>
              <a:tr h="5667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Statements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340420"/>
                  </a:ext>
                </a:extLst>
              </a:tr>
              <a:tr h="3733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The system works smoothly on smartphones.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3.96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402875"/>
                  </a:ext>
                </a:extLst>
              </a:tr>
              <a:tr h="346903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The system works well on desktop or laptop browser.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3.89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4836894"/>
                  </a:ext>
                </a:extLst>
              </a:tr>
              <a:tr h="703296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The features of the system can be accessed on different computer devices (e. g. Smartphones, Desktop, Laptop, Tablet).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3053078"/>
                  </a:ext>
                </a:extLst>
              </a:tr>
              <a:tr h="346903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The system works well on different kinds of operating systems.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3.97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2569319"/>
                  </a:ext>
                </a:extLst>
              </a:tr>
              <a:tr h="3733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5. The system has unique interface for different computer devices.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3.70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9270147"/>
                  </a:ext>
                </a:extLst>
              </a:tr>
              <a:tr h="1800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0379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5650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551EC-555B-E315-4A93-AF8AAF43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E481-E89D-56CB-CC87-E1F64EEF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C303F-258F-07D9-7B41-4C17EC38B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9876"/>
            <a:ext cx="4260300" cy="3503624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Usability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3.93 average weighted mean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mooth and good quality of experience while using its features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Statements 3(64) and 5(53)  - 3.96 weighted mean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sers observed the clarity of the user interface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eedback section is also noticeable which makes it easier for the users to put their concerns and comments on their experience while using the platform</a:t>
            </a:r>
          </a:p>
          <a:p>
            <a:r>
              <a:rPr lang="en-US" sz="1100" kern="100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Malewicz</a:t>
            </a:r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(2024) – UI should be enjoyable, satisfying and frustration-free. D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not care about the design but their goal of getting their tasks done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2(57) – 3.87 WM</a:t>
            </a:r>
          </a:p>
          <a:p>
            <a:endParaRPr lang="en-US" sz="11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1ED191-BB49-392A-2A59-CD4B352BD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284234"/>
              </p:ext>
            </p:extLst>
          </p:nvPr>
        </p:nvGraphicFramePr>
        <p:xfrm>
          <a:off x="4787153" y="1407458"/>
          <a:ext cx="4195482" cy="27880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4562">
                  <a:extLst>
                    <a:ext uri="{9D8B030D-6E8A-4147-A177-3AD203B41FA5}">
                      <a16:colId xmlns:a16="http://schemas.microsoft.com/office/drawing/2014/main" val="3015310695"/>
                    </a:ext>
                  </a:extLst>
                </a:gridCol>
                <a:gridCol w="601811">
                  <a:extLst>
                    <a:ext uri="{9D8B030D-6E8A-4147-A177-3AD203B41FA5}">
                      <a16:colId xmlns:a16="http://schemas.microsoft.com/office/drawing/2014/main" val="4046708465"/>
                    </a:ext>
                  </a:extLst>
                </a:gridCol>
                <a:gridCol w="849109">
                  <a:extLst>
                    <a:ext uri="{9D8B030D-6E8A-4147-A177-3AD203B41FA5}">
                      <a16:colId xmlns:a16="http://schemas.microsoft.com/office/drawing/2014/main" val="4267581209"/>
                    </a:ext>
                  </a:extLst>
                </a:gridCol>
              </a:tblGrid>
              <a:tr h="5828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Statements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6475782"/>
                  </a:ext>
                </a:extLst>
              </a:tr>
              <a:tr h="3831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The system is easy to use, even for someone unfamiliar with it.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3.92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1463452"/>
                  </a:ext>
                </a:extLst>
              </a:tr>
              <a:tr h="355867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Users can easily find rental house units without putting much effort.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3.87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149072"/>
                  </a:ext>
                </a:extLst>
              </a:tr>
              <a:tr h="355867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The User Interface is clear and easy to understand.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3.96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5004969"/>
                  </a:ext>
                </a:extLst>
              </a:tr>
              <a:tr h="355867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The booking feature is straightforward and quick.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6622703"/>
                  </a:ext>
                </a:extLst>
              </a:tr>
              <a:tr h="5708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5. The users can easily contact admin or owner when they encounter problems.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3.96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1160150"/>
                  </a:ext>
                </a:extLst>
              </a:tr>
              <a:tr h="1834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3.93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364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1230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8FED-50E7-18C6-22E1-9B464F0A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8E9F-6CC0-C7CC-0991-F1F5EE24D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3689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6A4E3-E578-2C3A-FFCD-F68EDF49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6770"/>
            <a:ext cx="4260300" cy="35036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Reliability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Average 3.84 weighted mean – Agree</a:t>
            </a:r>
          </a:p>
          <a:p>
            <a:r>
              <a:rPr lang="en-US" sz="12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12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vailability and credibility of the system that can withstand different situations like having errors</a:t>
            </a:r>
          </a:p>
          <a:p>
            <a:r>
              <a:rPr lang="en-US" sz="12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3(65) – 3.99 WM – Agree	</a:t>
            </a:r>
          </a:p>
          <a:p>
            <a:r>
              <a:rPr lang="en-US" sz="1100" dirty="0" err="1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Crudu</a:t>
            </a:r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(2024) - 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error messages are important to the interaction of users and the website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nformative messages can help the users quickly understand their situation when errors happened</a:t>
            </a:r>
          </a:p>
          <a:p>
            <a:endParaRPr lang="en-US" sz="1100" kern="1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2(54) – 3.71 WM</a:t>
            </a:r>
          </a:p>
          <a:p>
            <a:r>
              <a:rPr lang="en-US" sz="12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</a:t>
            </a:r>
            <a:r>
              <a:rPr lang="en-US" sz="12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ajority of the users can effectively observe the availability of the payment history inside the platform</a:t>
            </a:r>
          </a:p>
          <a:p>
            <a:endParaRPr lang="en-US" sz="8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0985A3-D9D8-2A96-6C8A-B41B99A0D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523225"/>
              </p:ext>
            </p:extLst>
          </p:nvPr>
        </p:nvGraphicFramePr>
        <p:xfrm>
          <a:off x="4652681" y="1256770"/>
          <a:ext cx="4401672" cy="32526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79444">
                  <a:extLst>
                    <a:ext uri="{9D8B030D-6E8A-4147-A177-3AD203B41FA5}">
                      <a16:colId xmlns:a16="http://schemas.microsoft.com/office/drawing/2014/main" val="1558745375"/>
                    </a:ext>
                  </a:extLst>
                </a:gridCol>
                <a:gridCol w="631388">
                  <a:extLst>
                    <a:ext uri="{9D8B030D-6E8A-4147-A177-3AD203B41FA5}">
                      <a16:colId xmlns:a16="http://schemas.microsoft.com/office/drawing/2014/main" val="345852138"/>
                    </a:ext>
                  </a:extLst>
                </a:gridCol>
                <a:gridCol w="890840">
                  <a:extLst>
                    <a:ext uri="{9D8B030D-6E8A-4147-A177-3AD203B41FA5}">
                      <a16:colId xmlns:a16="http://schemas.microsoft.com/office/drawing/2014/main" val="4169384444"/>
                    </a:ext>
                  </a:extLst>
                </a:gridCol>
              </a:tblGrid>
              <a:tr h="530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Statements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6457410"/>
                  </a:ext>
                </a:extLst>
              </a:tr>
              <a:tr h="5307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The system is stable to use, providing reliable platform for finding rental house units and booking processes.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3.73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2849919"/>
                  </a:ext>
                </a:extLst>
              </a:tr>
              <a:tr h="491782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The payment history is always available when the users need proofs that they have legitimate transactions.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3.71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9012729"/>
                  </a:ext>
                </a:extLst>
              </a:tr>
              <a:tr h="491782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The system handles errors effectively, minimizing disruption in rental booking processes.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3.99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45581"/>
                  </a:ext>
                </a:extLst>
              </a:tr>
              <a:tr h="491782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 Users feel confident that their booking and transaction processes are real-time and accurate.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3.95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990774"/>
                  </a:ext>
                </a:extLst>
              </a:tr>
              <a:tr h="3497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5. The system is always available when the users need it without downtime. 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3.76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3997117"/>
                  </a:ext>
                </a:extLst>
              </a:tr>
              <a:tr h="1686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3.84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0845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9083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2D90E-B45E-0543-90D6-287CDB9F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5A6D-FA0D-8964-1C36-E60CE96E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3689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FEF41-41B4-CF19-C57B-26BEB03E3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6770"/>
            <a:ext cx="4260300" cy="35036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Security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Average 3.85 weighted mean – Agree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ebsite to make the users feel secure when they are using the platform to book rental house units.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1 (63) – 3.84 WM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ocuses in the process of account verification and user authentication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Waite (2024) – Access information for cybercrime purposes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 Trust as Business show security measurement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3 (53) -3.79 weighted mean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ajority of the users observed the credibility of the proposed system to present real-time information about the booking transactions</a:t>
            </a:r>
            <a:endParaRPr lang="en-US" sz="4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A0A1DB-247C-58D5-5A09-41CC32E4D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642444"/>
              </p:ext>
            </p:extLst>
          </p:nvPr>
        </p:nvGraphicFramePr>
        <p:xfrm>
          <a:off x="4634752" y="1019669"/>
          <a:ext cx="4410636" cy="3503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5309">
                  <a:extLst>
                    <a:ext uri="{9D8B030D-6E8A-4147-A177-3AD203B41FA5}">
                      <a16:colId xmlns:a16="http://schemas.microsoft.com/office/drawing/2014/main" val="2297616417"/>
                    </a:ext>
                  </a:extLst>
                </a:gridCol>
                <a:gridCol w="632673">
                  <a:extLst>
                    <a:ext uri="{9D8B030D-6E8A-4147-A177-3AD203B41FA5}">
                      <a16:colId xmlns:a16="http://schemas.microsoft.com/office/drawing/2014/main" val="2065310268"/>
                    </a:ext>
                  </a:extLst>
                </a:gridCol>
                <a:gridCol w="892654">
                  <a:extLst>
                    <a:ext uri="{9D8B030D-6E8A-4147-A177-3AD203B41FA5}">
                      <a16:colId xmlns:a16="http://schemas.microsoft.com/office/drawing/2014/main" val="248743057"/>
                    </a:ext>
                  </a:extLst>
                </a:gridCol>
              </a:tblGrid>
              <a:tr h="5746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Statements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183860"/>
                  </a:ext>
                </a:extLst>
              </a:tr>
              <a:tr h="5746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The system ensures that the platform is available to authorized and authenticated users only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3.94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76926"/>
                  </a:ext>
                </a:extLst>
              </a:tr>
              <a:tr h="53239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The login process is secured by using authentication process such as email verification.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3.86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8550926"/>
                  </a:ext>
                </a:extLst>
              </a:tr>
              <a:tr h="53239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Users feel safe and confident when placing their bookings, ensuring that their transaction is accurate and real.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3.79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0112508"/>
                  </a:ext>
                </a:extLst>
              </a:tr>
              <a:tr h="53239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Transactions have detailed information, ensuring users their bookings can be traced back to them.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3.83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0448910"/>
                  </a:ext>
                </a:extLst>
              </a:tr>
              <a:tr h="5746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5. The system first confirms the users of their booking processes, avoiding wrong bookings, ensuring accountability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3.82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4241454"/>
                  </a:ext>
                </a:extLst>
              </a:tr>
              <a:tr h="1825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30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2809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A782D-7A5F-082D-A70B-550AC914A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4234-CB61-CC81-8638-D25E6420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3689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949F0-8D06-1416-003A-38E7F1A63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6770"/>
            <a:ext cx="4260300" cy="35036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Maintainability(For Users)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Average 3.85 weighted mean – Agree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1 (59) – 4.12 WM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Baig(2023) - </a:t>
            </a:r>
            <a:r>
              <a:rPr lang="en-US" sz="12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website is a tool for business just like any other business assets</a:t>
            </a:r>
          </a:p>
          <a:p>
            <a:r>
              <a:rPr lang="en-US" sz="1200" kern="100" dirty="0">
                <a:solidFill>
                  <a:schemeClr val="bg2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Security at risk</a:t>
            </a:r>
          </a:p>
          <a:p>
            <a:r>
              <a:rPr lang="en-US" sz="1100" dirty="0">
                <a:solidFill>
                  <a:schemeClr val="bg2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Affect performance and functionalities</a:t>
            </a:r>
          </a:p>
          <a:p>
            <a:r>
              <a:rPr lang="en-US" sz="1100" dirty="0">
                <a:solidFill>
                  <a:schemeClr val="bg2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Statement 4 (44) – 3.51 WM</a:t>
            </a:r>
          </a:p>
          <a:p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functions inside the platform are working without having any issues</a:t>
            </a:r>
            <a:endParaRPr lang="en-US" sz="800" dirty="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0A03CD-F9C3-184D-4B5E-B2B95C002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341038"/>
              </p:ext>
            </p:extLst>
          </p:nvPr>
        </p:nvGraphicFramePr>
        <p:xfrm>
          <a:off x="4482353" y="1004659"/>
          <a:ext cx="4522278" cy="36231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58342">
                  <a:extLst>
                    <a:ext uri="{9D8B030D-6E8A-4147-A177-3AD203B41FA5}">
                      <a16:colId xmlns:a16="http://schemas.microsoft.com/office/drawing/2014/main" val="397590921"/>
                    </a:ext>
                  </a:extLst>
                </a:gridCol>
                <a:gridCol w="648687">
                  <a:extLst>
                    <a:ext uri="{9D8B030D-6E8A-4147-A177-3AD203B41FA5}">
                      <a16:colId xmlns:a16="http://schemas.microsoft.com/office/drawing/2014/main" val="175264529"/>
                    </a:ext>
                  </a:extLst>
                </a:gridCol>
                <a:gridCol w="915249">
                  <a:extLst>
                    <a:ext uri="{9D8B030D-6E8A-4147-A177-3AD203B41FA5}">
                      <a16:colId xmlns:a16="http://schemas.microsoft.com/office/drawing/2014/main" val="2742530082"/>
                    </a:ext>
                  </a:extLst>
                </a:gridCol>
              </a:tblGrid>
              <a:tr h="5604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Statements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extLst>
                  <a:ext uri="{0D108BD9-81ED-4DB2-BD59-A6C34878D82A}">
                    <a16:rowId xmlns:a16="http://schemas.microsoft.com/office/drawing/2014/main" val="4140973788"/>
                  </a:ext>
                </a:extLst>
              </a:tr>
              <a:tr h="3684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The system runs correctly when users use it, proving maintainability.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4.12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extLst>
                  <a:ext uri="{0D108BD9-81ED-4DB2-BD59-A6C34878D82A}">
                    <a16:rowId xmlns:a16="http://schemas.microsoft.com/office/drawing/2014/main" val="3565559554"/>
                  </a:ext>
                </a:extLst>
              </a:tr>
              <a:tr h="51919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The users can see changes and improvements in the system without experiencing negative effects on quality of service.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3.64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extLst>
                  <a:ext uri="{0D108BD9-81ED-4DB2-BD59-A6C34878D82A}">
                    <a16:rowId xmlns:a16="http://schemas.microsoft.com/office/drawing/2014/main" val="1459587529"/>
                  </a:ext>
                </a:extLst>
              </a:tr>
              <a:tr h="519190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The system provides technical support such as feedback forms to address any issues or concerns the users may encounter.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3.98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extLst>
                  <a:ext uri="{0D108BD9-81ED-4DB2-BD59-A6C34878D82A}">
                    <a16:rowId xmlns:a16="http://schemas.microsoft.com/office/drawing/2014/main" val="514488919"/>
                  </a:ext>
                </a:extLst>
              </a:tr>
              <a:tr h="342243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The users do not experience bugs and issues while accessing the features of the system.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3.51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extLst>
                  <a:ext uri="{0D108BD9-81ED-4DB2-BD59-A6C34878D82A}">
                    <a16:rowId xmlns:a16="http://schemas.microsoft.com/office/drawing/2014/main" val="2035777759"/>
                  </a:ext>
                </a:extLst>
              </a:tr>
              <a:tr h="7524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5. The system provides real-time house unit information such as the availability and prices of the rental properties, ensuring the system is well-maintained.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3.98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extLst>
                  <a:ext uri="{0D108BD9-81ED-4DB2-BD59-A6C34878D82A}">
                    <a16:rowId xmlns:a16="http://schemas.microsoft.com/office/drawing/2014/main" val="1439062727"/>
                  </a:ext>
                </a:extLst>
              </a:tr>
              <a:tr h="1765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4527" marR="64527" marT="0" marB="0"/>
                </a:tc>
                <a:extLst>
                  <a:ext uri="{0D108BD9-81ED-4DB2-BD59-A6C34878D82A}">
                    <a16:rowId xmlns:a16="http://schemas.microsoft.com/office/drawing/2014/main" val="188643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9910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8BE0-9DCA-87A5-C675-2CDDDCD4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ECED-9836-49B7-B069-C179C536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3689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4EF14-C62D-558A-1B50-8CA354AA6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6770"/>
            <a:ext cx="4260300" cy="35036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Portability</a:t>
            </a:r>
          </a:p>
          <a:p>
            <a:r>
              <a:rPr lang="en-US" sz="1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Average 3.90 weighted mean – Agree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ffer services to the users in a portable manner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Statement 3 (64) – 4.00 WM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Dragan (2023) -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website needs to cater the needs of mobile users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Responsive Web design – user retention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Statement 2 (65) (x32) – 3.71 WM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</a:t>
            </a:r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sers described the proposed system as a website that can offer services and cater their needs based on their preferences of computer devices, time and place</a:t>
            </a:r>
            <a:endParaRPr lang="en-US" sz="1100" kern="1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800" dirty="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61B897-0943-66D4-6574-7B91E090C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07653"/>
              </p:ext>
            </p:extLst>
          </p:nvPr>
        </p:nvGraphicFramePr>
        <p:xfrm>
          <a:off x="4666903" y="1185053"/>
          <a:ext cx="4260300" cy="35049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6963">
                  <a:extLst>
                    <a:ext uri="{9D8B030D-6E8A-4147-A177-3AD203B41FA5}">
                      <a16:colId xmlns:a16="http://schemas.microsoft.com/office/drawing/2014/main" val="1048869024"/>
                    </a:ext>
                  </a:extLst>
                </a:gridCol>
                <a:gridCol w="611109">
                  <a:extLst>
                    <a:ext uri="{9D8B030D-6E8A-4147-A177-3AD203B41FA5}">
                      <a16:colId xmlns:a16="http://schemas.microsoft.com/office/drawing/2014/main" val="46985615"/>
                    </a:ext>
                  </a:extLst>
                </a:gridCol>
                <a:gridCol w="862228">
                  <a:extLst>
                    <a:ext uri="{9D8B030D-6E8A-4147-A177-3AD203B41FA5}">
                      <a16:colId xmlns:a16="http://schemas.microsoft.com/office/drawing/2014/main" val="2269780235"/>
                    </a:ext>
                  </a:extLst>
                </a:gridCol>
              </a:tblGrid>
              <a:tr h="6218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Statements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7998570"/>
                  </a:ext>
                </a:extLst>
              </a:tr>
              <a:tr h="4087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Users can access the system from different locations without issues.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3.98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6156388"/>
                  </a:ext>
                </a:extLst>
              </a:tr>
              <a:tr h="379628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Users can book rental house units anytime and anywhere.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3.71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102287"/>
                  </a:ext>
                </a:extLst>
              </a:tr>
              <a:tr h="57600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Users do not need heavy devices such as desktop to access the system, they can use their smartphones.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4.00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6948606"/>
                  </a:ext>
                </a:extLst>
              </a:tr>
              <a:tr h="576004">
                <a:tc>
                  <a:txBody>
                    <a:bodyPr/>
                    <a:lstStyle/>
                    <a:p>
                      <a:pPr marL="0" marR="0"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The system is accessible to users without the need of installation, promoting easy access for booking processes.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3.99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9593480"/>
                  </a:ext>
                </a:extLst>
              </a:tr>
              <a:tr h="6218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5. The features and functions of the system are consistent across different types of computer devices.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3.82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3212091"/>
                  </a:ext>
                </a:extLst>
              </a:tr>
              <a:tr h="1957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3.90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5982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84546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E5930-006B-7864-2FA4-81D67091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0424-9FBA-B3ED-7460-C977FC4E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36894"/>
            <a:ext cx="8520600" cy="60780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and Discussions – </a:t>
            </a:r>
            <a:r>
              <a:rPr lang="en-US" sz="2000" dirty="0"/>
              <a:t>Evaluation Based on ISO 25010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1AEA8-78E7-E542-3419-EA522ECB5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56770"/>
            <a:ext cx="4260300" cy="35036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Summary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proposed system has got favorable ratings across different categories of Software Quality Standard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Usability – 3.93 WM</a:t>
            </a:r>
          </a:p>
          <a:p>
            <a:r>
              <a:rPr lang="en-US" sz="11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mentioned from the usability category, users do not care about the design of the website</a:t>
            </a:r>
          </a:p>
          <a:p>
            <a:r>
              <a:rPr lang="en-US" sz="11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Reliability – 3.84 WM</a:t>
            </a:r>
          </a:p>
          <a:p>
            <a:r>
              <a:rPr lang="en-US" sz="12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 mentioned from the usability category, users do not care about the design of the website</a:t>
            </a:r>
            <a:endParaRPr lang="en-US" sz="900" kern="100" dirty="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A80D47-6F5F-68BF-C7F2-E76F0D09F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015861"/>
              </p:ext>
            </p:extLst>
          </p:nvPr>
        </p:nvGraphicFramePr>
        <p:xfrm>
          <a:off x="4891005" y="1372457"/>
          <a:ext cx="4093695" cy="23985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3063">
                  <a:extLst>
                    <a:ext uri="{9D8B030D-6E8A-4147-A177-3AD203B41FA5}">
                      <a16:colId xmlns:a16="http://schemas.microsoft.com/office/drawing/2014/main" val="1936317018"/>
                    </a:ext>
                  </a:extLst>
                </a:gridCol>
                <a:gridCol w="764188">
                  <a:extLst>
                    <a:ext uri="{9D8B030D-6E8A-4147-A177-3AD203B41FA5}">
                      <a16:colId xmlns:a16="http://schemas.microsoft.com/office/drawing/2014/main" val="172464010"/>
                    </a:ext>
                  </a:extLst>
                </a:gridCol>
                <a:gridCol w="796444">
                  <a:extLst>
                    <a:ext uri="{9D8B030D-6E8A-4147-A177-3AD203B41FA5}">
                      <a16:colId xmlns:a16="http://schemas.microsoft.com/office/drawing/2014/main" val="2739449426"/>
                    </a:ext>
                  </a:extLst>
                </a:gridCol>
              </a:tblGrid>
              <a:tr h="6257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Category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Verbal Interpretation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6943436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Functional Suitability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3.90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2538062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Performance Efficiency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3.88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7827048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Compatibility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3165693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Usability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3.93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0670310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Reliability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3.84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8408401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Security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5532504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Maintainability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3.85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7131661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Portability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3.90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1563545"/>
                  </a:ext>
                </a:extLst>
              </a:tr>
              <a:tr h="1969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Average Weighted Mean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3.87</a:t>
                      </a:r>
                      <a:endParaRPr lang="en-US" sz="1100" kern="10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Agree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4335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10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BE912-9095-5A2E-FE5E-4EC8A71F5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the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1918D-0993-9D40-67DB-BF4A0490D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proposed system effectively provides accurate and up-to-date information on rental properties, and the users can easily use the filter feature of the system to help them gather details they need to decide properly. </a:t>
            </a:r>
          </a:p>
          <a:p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platform also effectively offers users a way to track their payment using payment history. </a:t>
            </a:r>
            <a:endParaRPr lang="en-US" sz="1400" kern="1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</a:t>
            </a:r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asy for the page contents to load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avigating through property listing is smooth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</a:t>
            </a:r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ajority of the users agreed that the virtual tour features can load quickly without interruptions. Some still experiences interruptions</a:t>
            </a:r>
          </a:p>
          <a:p>
            <a:r>
              <a:rPr lang="en-US" sz="12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users agreed that the system works well in different platforms</a:t>
            </a:r>
          </a:p>
          <a:p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users agreed that the system works well in different kinds of operating system, especially OS for smartphones and desktops such as iOS, Windows, Android, and macOS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</a:t>
            </a:r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ase of use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Easy to Understand website</a:t>
            </a:r>
            <a:endParaRPr lang="en-US" sz="7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9287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81518-5407-E5CE-13CE-F2B16826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8FF7-8BA8-8624-439E-DFF63693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the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AFF67-FD79-40C6-50E9-CC8740DF0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 system handles errors effectively which might affect the processes inside the business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onfident that their booking and payment transactions information are accurate.</a:t>
            </a:r>
            <a:endParaRPr lang="en-US" sz="1600" kern="1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dentify the reliability of the system to be able to offer services without worrying about it not functional very well.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table as it provides reliable ways to find rental house units and bookings. </a:t>
            </a: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Users feel confident in the system’s security measures</a:t>
            </a:r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since the initial steps for accessing the website are user authorization and authentication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ooking and transaction history make them feel more secured </a:t>
            </a:r>
            <a:endParaRPr lang="en-US" sz="1600" kern="1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hey can easily track the transactions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Action Confirmation</a:t>
            </a:r>
            <a:endParaRPr lang="en-US" sz="16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2148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BA40F-9ABB-AEFA-E1A7-7209697A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66EC-7E70-36ED-2E18-8820CDBB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the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C7C1A-9EA3-97C7-16BF-A454B7716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ell-maintained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ystem works efficiently since the features are functional really well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ystem provides support such as feedback forms to address the concerns</a:t>
            </a: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Real-time information is also visible to the system such as the real-time update of the availability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 interface cannot affect their transactions with the system</a:t>
            </a: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Some users encounter bugs while using the system but still the majority of them agreed that these bugs are present in the process. 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ccess the system just by using their smartphones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ccess through web without any installation required</a:t>
            </a:r>
          </a:p>
          <a:p>
            <a:r>
              <a:rPr lang="en-US" sz="16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US" sz="16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eatures are also consistent despite being used in different devices</a:t>
            </a:r>
            <a:endParaRPr lang="en-US" sz="16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08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181C8-A323-4123-7571-66EBAB86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109C9-5321-3841-1962-245563527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</a:t>
            </a:r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sers can easily see the transparency of the details they need to choose rental properties based on their personal preferences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</a:t>
            </a:r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sers can decide on the rental house units they want to choose without any hesitations since they have enough details about the rental </a:t>
            </a:r>
            <a:r>
              <a:rPr lang="en-US" sz="1400" kern="100" dirty="0" err="1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</a:t>
            </a:r>
            <a:endParaRPr lang="en-US" sz="1400" kern="100" dirty="0">
              <a:solidFill>
                <a:schemeClr val="bg2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Users can easily filter the property listing with this information</a:t>
            </a:r>
            <a:endParaRPr lang="en-US" sz="1400" kern="1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system achieved a quick load of page contents. Users can immediately see the property listings.</a:t>
            </a:r>
          </a:p>
          <a:p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interactivity, the proposed system successfully integrated a virtual tour feature which purpose is for the users to view each room with 360-degree view angle. </a:t>
            </a:r>
          </a:p>
          <a:p>
            <a:r>
              <a:rPr lang="en-US" sz="1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</a:t>
            </a:r>
            <a:r>
              <a:rPr lang="en-US" sz="1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eal-time data being offered by the tools used in the system, it is clear that the platform can send accurate and up-to-date information which can help the users and the admin. </a:t>
            </a:r>
          </a:p>
          <a:p>
            <a:endParaRPr lang="en-US" sz="14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1633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29BA-D187-813A-395E-BE990002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8DDC-030E-D718-DE91-08D0ECF52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E7539-74AD-C0B2-AB52-EC1C906E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kern="100" dirty="0">
                <a:solidFill>
                  <a:schemeClr val="bg2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Users using similar system uses mobile phones (Smartphones)</a:t>
            </a: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Users also described how easy it is to navigate things inside the website</a:t>
            </a: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booking process is too straightforward for the users</a:t>
            </a: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transaction is easy and fast as it does not require to put more effort </a:t>
            </a:r>
            <a:endParaRPr lang="en-US" sz="1600" kern="100" dirty="0">
              <a:solidFill>
                <a:schemeClr val="bg2"/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system is also prepared for interactions that the users can make while using the website such as accessing some sections with functionalities that are still in the development stage</a:t>
            </a: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system successfully created a platform for users to use easily in finding and booking rental house units being offered by S&amp;M Products and Rentals</a:t>
            </a:r>
            <a:endParaRPr lang="en-US" sz="1600" kern="100" dirty="0">
              <a:solidFill>
                <a:schemeClr val="bg2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1600" kern="100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also has the tools to improve the business processes of the rental property business such as management system and analytics tools.</a:t>
            </a:r>
            <a:endParaRPr lang="en-US" sz="1600" dirty="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083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9E99-8E28-BCCC-500C-9566E062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58EA5-20D0-4221-DDFA-6BACCD573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Third Party Payment API</a:t>
            </a:r>
          </a:p>
          <a:p>
            <a:pPr>
              <a:buFont typeface="+mj-lt"/>
              <a:buAutoNum type="arabicPeriod"/>
            </a:pPr>
            <a:r>
              <a:rPr lang="en-US" sz="2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 of Mobile development design</a:t>
            </a:r>
          </a:p>
          <a:p>
            <a:pPr>
              <a:buFont typeface="+mj-lt"/>
              <a:buAutoNum type="arabicPeriod"/>
            </a:pPr>
            <a:r>
              <a:rPr lang="en-US" sz="2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Transition to Mobile Development</a:t>
            </a:r>
          </a:p>
          <a:p>
            <a:pPr>
              <a:buFont typeface="+mj-lt"/>
              <a:buAutoNum type="arabicPeriod"/>
            </a:pPr>
            <a:r>
              <a:rPr lang="en-US" sz="2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Machine Learning Implementation</a:t>
            </a:r>
          </a:p>
          <a:p>
            <a:pPr>
              <a:buFont typeface="+mj-lt"/>
              <a:buAutoNum type="arabicPeriod"/>
            </a:pPr>
            <a:r>
              <a:rPr lang="en-US" sz="2400" kern="1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n-US" sz="2400" kern="100" dirty="0">
                <a:solidFill>
                  <a:schemeClr val="bg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ctual AI </a:t>
            </a:r>
          </a:p>
          <a:p>
            <a:pPr>
              <a:buFont typeface="+mj-lt"/>
              <a:buAutoNum type="arabicPeriod"/>
            </a:pPr>
            <a:endParaRPr lang="en-US" sz="2400" kern="100" dirty="0">
              <a:solidFill>
                <a:schemeClr val="bg2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215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0"/>
          <p:cNvSpPr txBox="1">
            <a:spLocks noGrp="1"/>
          </p:cNvSpPr>
          <p:nvPr>
            <p:ph type="title"/>
          </p:nvPr>
        </p:nvSpPr>
        <p:spPr>
          <a:xfrm>
            <a:off x="311700" y="184545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/>
              <a:t>Questions</a:t>
            </a:r>
            <a:endParaRPr sz="40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36D2B-D751-09C5-4EC5-79A9EF8BB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https://www.investopedia.com/terms/s/sma.asp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0398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3"/>
          <p:cNvSpPr txBox="1">
            <a:spLocks noGrp="1"/>
          </p:cNvSpPr>
          <p:nvPr>
            <p:ph type="title"/>
          </p:nvPr>
        </p:nvSpPr>
        <p:spPr>
          <a:xfrm>
            <a:off x="406950" y="2100675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</a:rPr>
              <a:t>Sana Pasado Kami</a:t>
            </a:r>
            <a:endParaRPr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4"/>
          <p:cNvSpPr txBox="1">
            <a:spLocks noGrp="1"/>
          </p:cNvSpPr>
          <p:nvPr>
            <p:ph type="title"/>
          </p:nvPr>
        </p:nvSpPr>
        <p:spPr>
          <a:xfrm>
            <a:off x="331694" y="1712259"/>
            <a:ext cx="8927550" cy="23666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bg2"/>
                </a:solidFill>
              </a:rPr>
              <a:t>Thesis Defended</a:t>
            </a:r>
            <a:endParaRPr sz="4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8FA2-74DD-4600-8A57-D82ACD42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223BB-405A-9681-41DA-3583F6B37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22116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3992</Words>
  <Application>Microsoft Office PowerPoint</Application>
  <PresentationFormat>On-screen Show (16:9)</PresentationFormat>
  <Paragraphs>623</Paragraphs>
  <Slides>81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Times New Roman</vt:lpstr>
      <vt:lpstr>Roboto</vt:lpstr>
      <vt:lpstr>Arial</vt:lpstr>
      <vt:lpstr>Geometric</vt:lpstr>
      <vt:lpstr>RentaNa: An Integrated Web-based Rental Property Management System With Predictive Analytics Using Time Series Analysis</vt:lpstr>
      <vt:lpstr>Introduction</vt:lpstr>
      <vt:lpstr>Purpose and Description</vt:lpstr>
      <vt:lpstr>Statement of the Objectives</vt:lpstr>
      <vt:lpstr>Statement of the Objectives</vt:lpstr>
      <vt:lpstr>Statement of the Objectives(cont’d) </vt:lpstr>
      <vt:lpstr>Statement of the Objectives(cont’d) </vt:lpstr>
      <vt:lpstr>Statement of the Objectives(cont’d)  </vt:lpstr>
      <vt:lpstr>Scope and Limitations</vt:lpstr>
      <vt:lpstr>Scope and Limitations(cont’d) </vt:lpstr>
      <vt:lpstr>Conceptual Framework</vt:lpstr>
      <vt:lpstr>Related Literatures/Systems</vt:lpstr>
      <vt:lpstr>Related Literatures/Systems(cont’d) </vt:lpstr>
      <vt:lpstr>Related Literatures/Systems(cont’d)  </vt:lpstr>
      <vt:lpstr>Related Literatures/Systems(cont’d)   </vt:lpstr>
      <vt:lpstr>Related Literatures/Systems(cont’d)    </vt:lpstr>
      <vt:lpstr>Related Literatures/Systems(cont’d)</vt:lpstr>
      <vt:lpstr>Related Literatures/Systems(cont’d)</vt:lpstr>
      <vt:lpstr>Related Literatures/Systems(cont’d)</vt:lpstr>
      <vt:lpstr>Research Design</vt:lpstr>
      <vt:lpstr>Software Development Lifecycle</vt:lpstr>
      <vt:lpstr>Requirement Analysis</vt:lpstr>
      <vt:lpstr>Requirement Analysis (cont’d) </vt:lpstr>
      <vt:lpstr>Requirements Documentations</vt:lpstr>
      <vt:lpstr>Requirements Documentations(cont’d)</vt:lpstr>
      <vt:lpstr>Requirements Documentations(cont’d)</vt:lpstr>
      <vt:lpstr>Design of Software, Systems, Product, and/or Processes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Design of Software, Systems, Product, and/or Processes(cont’d) </vt:lpstr>
      <vt:lpstr>Development and Testing </vt:lpstr>
      <vt:lpstr>Development and Testing</vt:lpstr>
      <vt:lpstr>Development and Testing</vt:lpstr>
      <vt:lpstr>Development and Testing</vt:lpstr>
      <vt:lpstr>Development and Testing</vt:lpstr>
      <vt:lpstr>Development and Testing</vt:lpstr>
      <vt:lpstr>Development and Testing</vt:lpstr>
      <vt:lpstr>Development and Testing</vt:lpstr>
      <vt:lpstr>Development and Testing</vt:lpstr>
      <vt:lpstr>ISO 25010 series of 2017</vt:lpstr>
      <vt:lpstr>ISO 25010 series of 2017</vt:lpstr>
      <vt:lpstr>ISO 25010 series of 2017</vt:lpstr>
      <vt:lpstr>ISO 25010 series of 2017</vt:lpstr>
      <vt:lpstr>ISO 25010 series of 2017</vt:lpstr>
      <vt:lpstr>ISO 25010 series of 2017</vt:lpstr>
      <vt:lpstr>ISO 25010 series of 2017</vt:lpstr>
      <vt:lpstr>ISO 25010 series of 2017</vt:lpstr>
      <vt:lpstr>Results and Discussions</vt:lpstr>
      <vt:lpstr>Results and Discussions</vt:lpstr>
      <vt:lpstr>Results and Discussions – Evaluation Based on ISO 25010 </vt:lpstr>
      <vt:lpstr>Results and Discussions – Evaluation Based on ISO 25010 </vt:lpstr>
      <vt:lpstr>Results and Discussions – Evaluation Based on ISO 25010 </vt:lpstr>
      <vt:lpstr>Results and Discussions – Evaluation Based on ISO 25010 </vt:lpstr>
      <vt:lpstr>Results and Discussions – Evaluation Based on ISO 25010 </vt:lpstr>
      <vt:lpstr>Results and Discussions – Evaluation Based on ISO 25010 </vt:lpstr>
      <vt:lpstr>Results and Discussions – Evaluation Based on ISO 25010 </vt:lpstr>
      <vt:lpstr>Results and Discussions – Evaluation Based on ISO 25010 </vt:lpstr>
      <vt:lpstr>Results and Discussions – Evaluation Based on ISO 25010 </vt:lpstr>
      <vt:lpstr>Summary of the Findings</vt:lpstr>
      <vt:lpstr>Summary of the Findings</vt:lpstr>
      <vt:lpstr>Summary of the Findings</vt:lpstr>
      <vt:lpstr>Conclusion</vt:lpstr>
      <vt:lpstr>Conclusion</vt:lpstr>
      <vt:lpstr>Recommendations</vt:lpstr>
      <vt:lpstr>Questions</vt:lpstr>
      <vt:lpstr>PowerPoint Presentation</vt:lpstr>
      <vt:lpstr>Sana Pasado Kami</vt:lpstr>
      <vt:lpstr>Thesis Defended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230</cp:revision>
  <dcterms:modified xsi:type="dcterms:W3CDTF">2024-12-11T19:51:05Z</dcterms:modified>
</cp:coreProperties>
</file>